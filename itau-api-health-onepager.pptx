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3"/>
  </p:notesMasterIdLst>
  <p:sldIdLst>
    <p:sldId id="256" r:id="rId2"/>
  </p:sldIdLst>
  <p:sldSz cx="9144000" cy="14039850"/>
  <p:notesSz cx="123444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D7D"/>
    <a:srgbClr val="5886BF"/>
    <a:srgbClr val="F49456"/>
    <a:srgbClr val="D36D63"/>
    <a:srgbClr val="283FFE"/>
    <a:srgbClr val="F36203"/>
    <a:srgbClr val="B9C8DB"/>
    <a:srgbClr val="C1392A"/>
    <a:srgbClr val="245EA8"/>
    <a:srgbClr val="1919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48"/>
    <p:restoredTop sz="94610"/>
  </p:normalViewPr>
  <p:slideViewPr>
    <p:cSldViewPr snapToGrid="0" snapToObjects="1">
      <p:cViewPr>
        <p:scale>
          <a:sx n="158" d="100"/>
          <a:sy n="158" d="100"/>
        </p:scale>
        <p:origin x="22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470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97726"/>
            <a:ext cx="7772400" cy="488794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7374172"/>
            <a:ext cx="6858000" cy="33897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53713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85486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3500216"/>
            <a:ext cx="7886700" cy="584018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9395654"/>
            <a:ext cx="7886700" cy="307121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1111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3737460"/>
            <a:ext cx="3886200" cy="890815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3737460"/>
            <a:ext cx="3886200" cy="890815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63348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747495"/>
            <a:ext cx="7886700" cy="271372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3441714"/>
            <a:ext cx="3868340" cy="16867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5128445"/>
            <a:ext cx="3868340" cy="754317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3441714"/>
            <a:ext cx="3887391" cy="16867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5128445"/>
            <a:ext cx="3887391" cy="754317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0829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9097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0065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935990"/>
            <a:ext cx="2949178" cy="327596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2021482"/>
            <a:ext cx="4629150" cy="99773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211955"/>
            <a:ext cx="2949178" cy="780316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5473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935990"/>
            <a:ext cx="2949178" cy="327596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2021482"/>
            <a:ext cx="4629150" cy="997739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211955"/>
            <a:ext cx="2949178" cy="780316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96823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4045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47492"/>
            <a:ext cx="1971675" cy="1189812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747492"/>
            <a:ext cx="5800725" cy="118981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4378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7732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747495"/>
            <a:ext cx="7886700" cy="2713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3737460"/>
            <a:ext cx="7886700" cy="8908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13012864"/>
            <a:ext cx="2057400" cy="747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13012864"/>
            <a:ext cx="3086100" cy="747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13012864"/>
            <a:ext cx="2057400" cy="747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970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Shape 10">
            <a:extLst>
              <a:ext uri="{FF2B5EF4-FFF2-40B4-BE49-F238E27FC236}">
                <a16:creationId xmlns:a16="http://schemas.microsoft.com/office/drawing/2014/main" id="{40E9729D-13E0-5DFA-FA5C-207EA56D528F}"/>
              </a:ext>
            </a:extLst>
          </p:cNvPr>
          <p:cNvSpPr/>
          <p:nvPr/>
        </p:nvSpPr>
        <p:spPr>
          <a:xfrm>
            <a:off x="6819138" y="1063321"/>
            <a:ext cx="2123694" cy="804672"/>
          </a:xfrm>
          <a:prstGeom prst="roundRect">
            <a:avLst>
              <a:gd name="adj" fmla="val 7592"/>
            </a:avLst>
          </a:prstGeom>
          <a:solidFill>
            <a:srgbClr val="F5F5F5"/>
          </a:solidFill>
          <a:ln w="6350">
            <a:noFill/>
            <a:prstDash val="soli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027" name="Shape 10">
            <a:extLst>
              <a:ext uri="{FF2B5EF4-FFF2-40B4-BE49-F238E27FC236}">
                <a16:creationId xmlns:a16="http://schemas.microsoft.com/office/drawing/2014/main" id="{C271283F-B0B1-8848-7A76-56EC7B2876C0}"/>
              </a:ext>
            </a:extLst>
          </p:cNvPr>
          <p:cNvSpPr/>
          <p:nvPr/>
        </p:nvSpPr>
        <p:spPr>
          <a:xfrm>
            <a:off x="4613148" y="1072465"/>
            <a:ext cx="2123694" cy="804672"/>
          </a:xfrm>
          <a:prstGeom prst="roundRect">
            <a:avLst>
              <a:gd name="adj" fmla="val 7592"/>
            </a:avLst>
          </a:prstGeom>
          <a:solidFill>
            <a:srgbClr val="E8F1FA"/>
          </a:solidFill>
          <a:ln w="6350">
            <a:noFill/>
            <a:prstDash val="soli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025" name="Shape 10">
            <a:extLst>
              <a:ext uri="{FF2B5EF4-FFF2-40B4-BE49-F238E27FC236}">
                <a16:creationId xmlns:a16="http://schemas.microsoft.com/office/drawing/2014/main" id="{B3205AF9-1C69-72FB-C172-58862D802BD4}"/>
              </a:ext>
            </a:extLst>
          </p:cNvPr>
          <p:cNvSpPr/>
          <p:nvPr/>
        </p:nvSpPr>
        <p:spPr>
          <a:xfrm>
            <a:off x="2407158" y="1081609"/>
            <a:ext cx="2123694" cy="804672"/>
          </a:xfrm>
          <a:prstGeom prst="roundRect">
            <a:avLst>
              <a:gd name="adj" fmla="val 7592"/>
            </a:avLst>
          </a:prstGeom>
          <a:solidFill>
            <a:srgbClr val="FDEDEB"/>
          </a:solidFill>
          <a:ln w="6350">
            <a:noFill/>
            <a:prstDash val="soli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2617"/>
            <a:ext cx="9144000" cy="713232"/>
          </a:xfrm>
          <a:prstGeom prst="rect">
            <a:avLst/>
          </a:prstGeom>
          <a:solidFill>
            <a:srgbClr val="283FFE"/>
          </a:solidFill>
          <a:ln w="12700">
            <a:noFill/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4" name="Text 2"/>
          <p:cNvSpPr/>
          <p:nvPr/>
        </p:nvSpPr>
        <p:spPr>
          <a:xfrm>
            <a:off x="228600" y="57481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50" dirty="0">
                <a:solidFill>
                  <a:schemeClr val="bg1">
                    <a:lumMod val="95000"/>
                  </a:schemeClr>
                </a:solidFill>
              </a:rPr>
              <a:t>EFICIÊNCIA OPERACIONAL &amp; CONFIABILIDADE  ·  VISÃO EXECUTIVA</a:t>
            </a:r>
            <a:endParaRPr lang="en-US" sz="7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28600" y="203785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Health Intelligence Platform  —  One Page Estratégico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28600" y="478105"/>
            <a:ext cx="6858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chemeClr val="bg1">
                    <a:lumMod val="95000"/>
                  </a:schemeClr>
                </a:solidFill>
              </a:rPr>
              <a:t>Score de risco multicritério · 25 APIs analisadas · Oportunidades de economia e próximos passos</a:t>
            </a:r>
          </a:p>
        </p:txBody>
      </p:sp>
      <p:sp>
        <p:nvSpPr>
          <p:cNvPr id="9" name="Text 7"/>
          <p:cNvSpPr/>
          <p:nvPr/>
        </p:nvSpPr>
        <p:spPr>
          <a:xfrm>
            <a:off x="7315200" y="523825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50" dirty="0">
                <a:solidFill>
                  <a:schemeClr val="bg1">
                    <a:lumMod val="95000"/>
                  </a:schemeClr>
                </a:solidFill>
              </a:rPr>
              <a:t>Abril 2026</a:t>
            </a:r>
          </a:p>
        </p:txBody>
      </p:sp>
      <p:sp>
        <p:nvSpPr>
          <p:cNvPr id="10" name="Shape 8"/>
          <p:cNvSpPr/>
          <p:nvPr/>
        </p:nvSpPr>
        <p:spPr>
          <a:xfrm>
            <a:off x="201168" y="825577"/>
            <a:ext cx="45720" cy="201168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825577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kern="0" spc="200" dirty="0">
                <a:solidFill>
                  <a:srgbClr val="F36203"/>
                </a:solidFill>
              </a:rPr>
              <a:t>DIAGNÓSTICO ATUAL — 25 APIs ANALISADAS</a:t>
            </a:r>
            <a:endParaRPr lang="en-US" sz="750" dirty="0">
              <a:solidFill>
                <a:srgbClr val="F36203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1168" y="1081609"/>
            <a:ext cx="2123694" cy="804672"/>
          </a:xfrm>
          <a:prstGeom prst="roundRect">
            <a:avLst>
              <a:gd name="adj" fmla="val 7592"/>
            </a:avLst>
          </a:prstGeom>
          <a:solidFill>
            <a:srgbClr val="FEF0E6"/>
          </a:solidFill>
          <a:ln w="6350">
            <a:noFill/>
            <a:prstDash val="soli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01168" y="1847729"/>
            <a:ext cx="2123694" cy="36576"/>
          </a:xfrm>
          <a:prstGeom prst="roundRect">
            <a:avLst/>
          </a:prstGeom>
          <a:solidFill>
            <a:srgbClr val="EC7000"/>
          </a:solidFill>
          <a:ln w="12700">
            <a:noFill/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1154761"/>
            <a:ext cx="21236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R$ 184,68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" y="1502233"/>
            <a:ext cx="212369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444444"/>
                </a:solidFill>
              </a:rPr>
              <a:t>Custo operacional / mês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1168" y="1666825"/>
            <a:ext cx="212369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888888"/>
                </a:solidFill>
              </a:rPr>
              <a:t>Total do portfólio monitorado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407158" y="1154761"/>
            <a:ext cx="21236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R$ 54,73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407158" y="1502233"/>
            <a:ext cx="212369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444444"/>
                </a:solidFill>
              </a:rPr>
              <a:t>Desperdício / mês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07158" y="1666825"/>
            <a:ext cx="212369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888888"/>
                </a:solidFill>
              </a:rPr>
              <a:t>29,6% do custo — req. com erro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13148" y="1154761"/>
            <a:ext cx="21236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rgbClr val="00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13148" y="1502233"/>
            <a:ext cx="212369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444444"/>
                </a:solidFill>
              </a:rPr>
              <a:t>APIs com erro ≥ 5%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13148" y="1666825"/>
            <a:ext cx="212369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888888"/>
                </a:solidFill>
              </a:rPr>
              <a:t>21 de 25 — impacto no score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819138" y="1154761"/>
            <a:ext cx="21236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19138" y="1502233"/>
            <a:ext cx="212369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444444"/>
                </a:solidFill>
              </a:rPr>
              <a:t>APIs requerem ação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819138" y="1666825"/>
            <a:ext cx="212369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888888"/>
                </a:solidFill>
              </a:rPr>
              <a:t>7 CRÍTICO · 18 ALTO · 0 no verde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22430" y="2050873"/>
            <a:ext cx="45720" cy="201168"/>
          </a:xfrm>
          <a:prstGeom prst="rect">
            <a:avLst/>
          </a:prstGeom>
          <a:solidFill>
            <a:srgbClr val="F36203"/>
          </a:solidFill>
          <a:ln w="12700">
            <a:noFill/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3873" y="2050873"/>
            <a:ext cx="362904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kern="0" spc="200" dirty="0">
                <a:solidFill>
                  <a:srgbClr val="F36203"/>
                </a:solidFill>
              </a:rPr>
              <a:t>CORRELAÇÕES ESTATÍSTICAS E SIMULAÇÃO DE GANHOS</a:t>
            </a:r>
            <a:endParaRPr lang="en-US" sz="750" dirty="0">
              <a:solidFill>
                <a:srgbClr val="F36203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01168" y="2042359"/>
            <a:ext cx="4297680" cy="292608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83FFE"/>
          </a:solidFill>
          <a:ln w="12700">
            <a:noFill/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2042359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chemeClr val="bg1"/>
                </a:solidFill>
              </a:rPr>
              <a:t>Top 7 — Intervenção Imediata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884121" y="2097223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F36203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84121" y="2097223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</a:rPr>
              <a:t>CRÍTICO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3346704" y="2042359"/>
            <a:ext cx="1106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700" b="1" dirty="0">
                <a:solidFill>
                  <a:schemeClr val="bg1">
                    <a:lumMod val="95000"/>
                  </a:schemeClr>
                </a:solidFill>
              </a:rPr>
              <a:t>R$ 167,33/mês em risco</a:t>
            </a:r>
          </a:p>
        </p:txBody>
      </p:sp>
      <p:sp>
        <p:nvSpPr>
          <p:cNvPr id="39" name="Shape 37"/>
          <p:cNvSpPr/>
          <p:nvPr/>
        </p:nvSpPr>
        <p:spPr>
          <a:xfrm>
            <a:off x="201168" y="2334967"/>
            <a:ext cx="4297680" cy="237744"/>
          </a:xfrm>
          <a:prstGeom prst="rect">
            <a:avLst/>
          </a:prstGeom>
          <a:solidFill>
            <a:srgbClr val="E8F0FA"/>
          </a:solidFill>
          <a:ln w="6350">
            <a:solidFill>
              <a:srgbClr val="003D7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" y="2334967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003D7D"/>
                </a:solidFill>
              </a:rPr>
              <a:t>#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12064" y="2334967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003D7D"/>
                </a:solidFill>
              </a:rPr>
              <a:t>API (Sigla)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929384" y="2334967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003D7D"/>
                </a:solidFill>
              </a:rPr>
              <a:t>Score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679192" y="2334967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003D7D"/>
                </a:solidFill>
              </a:rPr>
              <a:t>Erro %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182112" y="2334967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003D7D"/>
                </a:solidFill>
              </a:rPr>
              <a:t>Latência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840480" y="2334967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003D7D"/>
                </a:solidFill>
              </a:rPr>
              <a:t>Custo/mês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01168" y="2572711"/>
            <a:ext cx="4297680" cy="274320"/>
          </a:xfrm>
          <a:prstGeom prst="rect">
            <a:avLst/>
          </a:prstGeom>
          <a:solidFill>
            <a:srgbClr val="FDEDEB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2670" y="2572711"/>
            <a:ext cx="457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6888" y="2572711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888888"/>
                </a:solidFill>
              </a:rPr>
              <a:t>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2064" y="2572711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C1  registro-contato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929384" y="2673295"/>
            <a:ext cx="50292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29384" y="2673295"/>
            <a:ext cx="5029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61642" y="2645863"/>
            <a:ext cx="36895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" b="1" dirty="0">
                <a:solidFill>
                  <a:srgbClr val="C0392B"/>
                </a:solidFill>
              </a:rPr>
              <a:t>7,00</a:t>
            </a:r>
            <a:endParaRPr lang="en-US" sz="600" b="1" dirty="0"/>
          </a:p>
        </p:txBody>
      </p:sp>
      <p:sp>
        <p:nvSpPr>
          <p:cNvPr id="53" name="Text 51"/>
          <p:cNvSpPr/>
          <p:nvPr/>
        </p:nvSpPr>
        <p:spPr>
          <a:xfrm>
            <a:off x="2679192" y="2572711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C0392B"/>
                </a:solidFill>
              </a:rPr>
              <a:t>32,4%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182112" y="2572711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444444"/>
                </a:solidFill>
              </a:rPr>
              <a:t>6.192ms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840480" y="2572711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R$ 119,62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01168" y="2847031"/>
            <a:ext cx="4297680" cy="274320"/>
          </a:xfrm>
          <a:prstGeom prst="rect">
            <a:avLst/>
          </a:prstGeom>
          <a:solidFill>
            <a:srgbClr val="FDEDEB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2670" y="2847031"/>
            <a:ext cx="457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6888" y="2847031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888888"/>
                </a:solidFill>
              </a:rPr>
              <a:t>2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12064" y="2847031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HA7  audioanalytics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929384" y="2947615"/>
            <a:ext cx="50292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29387" y="2947615"/>
            <a:ext cx="432511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79192" y="2847031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C0392B"/>
                </a:solidFill>
              </a:rPr>
              <a:t>74,5%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182112" y="2847031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444444"/>
                </a:solidFill>
              </a:rPr>
              <a:t>4.005ms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840480" y="2847031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R$ 12,55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01168" y="3121351"/>
            <a:ext cx="42976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46888" y="3121351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888888"/>
                </a:solidFill>
              </a:rPr>
              <a:t>3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2064" y="3121351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EX3  juridico-test.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929384" y="3221935"/>
            <a:ext cx="50292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929384" y="3221935"/>
            <a:ext cx="412394" cy="73152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79192" y="3121351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EC7000"/>
                </a:solidFill>
              </a:rPr>
              <a:t>19,3%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182112" y="3121351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444444"/>
                </a:solidFill>
              </a:rPr>
              <a:t>5.076ms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840480" y="3121351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R$ 10,52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01168" y="3395671"/>
            <a:ext cx="4297680" cy="274320"/>
          </a:xfrm>
          <a:prstGeom prst="rect">
            <a:avLst/>
          </a:prstGeom>
          <a:solidFill>
            <a:srgbClr val="FAFAFA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46888" y="3395671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888888"/>
                </a:solidFill>
              </a:rPr>
              <a:t>4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12064" y="3395671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VC3  mercado-sec.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1929384" y="3496255"/>
            <a:ext cx="50292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929384" y="3496255"/>
            <a:ext cx="412394" cy="73152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361642" y="3205687"/>
            <a:ext cx="365845" cy="102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" b="1" dirty="0">
                <a:solidFill>
                  <a:srgbClr val="EC7000"/>
                </a:solidFill>
              </a:rPr>
              <a:t>5,75</a:t>
            </a:r>
            <a:endParaRPr lang="en-US" sz="600" b="1" dirty="0"/>
          </a:p>
        </p:txBody>
      </p:sp>
      <p:sp>
        <p:nvSpPr>
          <p:cNvPr id="83" name="Text 81"/>
          <p:cNvSpPr/>
          <p:nvPr/>
        </p:nvSpPr>
        <p:spPr>
          <a:xfrm>
            <a:off x="2679192" y="3395671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EC7000"/>
                </a:solidFill>
              </a:rPr>
              <a:t>14,7%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3182112" y="3395671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444444"/>
                </a:solidFill>
              </a:rPr>
              <a:t>6.981ms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3840480" y="3395671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R$ 5,41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01168" y="3669991"/>
            <a:ext cx="42976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46888" y="3669991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888888"/>
                </a:solidFill>
              </a:rPr>
              <a:t>5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12064" y="3669991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EX3  cad-processo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929384" y="3770575"/>
            <a:ext cx="50292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929387" y="3770575"/>
            <a:ext cx="382219" cy="73152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679192" y="3669991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EC7000"/>
                </a:solidFill>
              </a:rPr>
              <a:t>11,9%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3182112" y="3669991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444444"/>
                </a:solidFill>
              </a:rPr>
              <a:t>10.784ms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3840480" y="3669991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R$ 0,07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201168" y="3944311"/>
            <a:ext cx="4297680" cy="274320"/>
          </a:xfrm>
          <a:prstGeom prst="rect">
            <a:avLst/>
          </a:prstGeom>
          <a:solidFill>
            <a:srgbClr val="FAFAFA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46888" y="3944311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888888"/>
                </a:solidFill>
              </a:rPr>
              <a:t>6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512064" y="3944311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HF8  genia-service.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1929384" y="4044895"/>
            <a:ext cx="50292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929384" y="4044895"/>
            <a:ext cx="377190" cy="73152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679192" y="3944311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444444"/>
                </a:solidFill>
              </a:rPr>
              <a:t>5,6%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3182112" y="3944311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444444"/>
                </a:solidFill>
              </a:rPr>
              <a:t>6.396ms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3840480" y="3944311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R$ 14,48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201168" y="4218631"/>
            <a:ext cx="42976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46888" y="4218631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888888"/>
                </a:solidFill>
              </a:rPr>
              <a:t>7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512064" y="4218631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FX9  mercado-sec. int.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1929384" y="4319215"/>
            <a:ext cx="50292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929384" y="4319215"/>
            <a:ext cx="341986" cy="73152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679192" y="4218631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EC7000"/>
                </a:solidFill>
              </a:rPr>
              <a:t>13,0%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3182112" y="4218631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444444"/>
                </a:solidFill>
              </a:rPr>
              <a:t>4.383ms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3840480" y="4218631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R$ 4,68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201168" y="2334967"/>
            <a:ext cx="4297680" cy="4329358"/>
          </a:xfrm>
          <a:prstGeom prst="round2SameRect">
            <a:avLst>
              <a:gd name="adj1" fmla="val 0"/>
              <a:gd name="adj2" fmla="val 1514"/>
            </a:avLst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74320" y="4492951"/>
            <a:ext cx="4187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i="1" dirty="0">
                <a:solidFill>
                  <a:srgbClr val="C0392B"/>
                </a:solidFill>
              </a:rPr>
              <a:t>★  EXT = API externa — risco ao cliente final e impacto regulatório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4626864" y="2399041"/>
            <a:ext cx="4315968" cy="810000"/>
          </a:xfrm>
          <a:prstGeom prst="roundRect">
            <a:avLst>
              <a:gd name="adj" fmla="val 3807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118" name="Shape 116"/>
          <p:cNvSpPr/>
          <p:nvPr/>
        </p:nvSpPr>
        <p:spPr>
          <a:xfrm>
            <a:off x="4626864" y="2399041"/>
            <a:ext cx="54864" cy="810000"/>
          </a:xfrm>
          <a:prstGeom prst="rect">
            <a:avLst/>
          </a:prstGeom>
          <a:solidFill>
            <a:srgbClr val="F36203"/>
          </a:solidFill>
          <a:ln w="12700">
            <a:noFill/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736592" y="2444761"/>
            <a:ext cx="41696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50" dirty="0">
                <a:solidFill>
                  <a:srgbClr val="EC7000"/>
                </a:solidFill>
              </a:rPr>
              <a:t>Correlação forte · r = 1.00 · p = 0.000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4736592" y="2581921"/>
            <a:ext cx="4169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Volumetria determina custo</a:t>
            </a:r>
            <a:endParaRPr lang="en-US" sz="1000" dirty="0"/>
          </a:p>
        </p:txBody>
      </p:sp>
      <p:sp>
        <p:nvSpPr>
          <p:cNvPr id="121" name="Text 119"/>
          <p:cNvSpPr/>
          <p:nvPr/>
        </p:nvSpPr>
        <p:spPr>
          <a:xfrm>
            <a:off x="4736592" y="2810171"/>
            <a:ext cx="4169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3 APIs (C1, HA7, HF8) concentram 79,4% do custo total — R$ 146,65/mês. Otimizar estas primeiro é o maior ROI.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4736592" y="3046637"/>
            <a:ext cx="4169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EC7000"/>
                </a:solidFill>
              </a:rPr>
              <a:t>→ Priorizar alto volume antes de qualquer outra ação.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4626864" y="3275244"/>
            <a:ext cx="4315968" cy="810000"/>
          </a:xfrm>
          <a:prstGeom prst="roundRect">
            <a:avLst>
              <a:gd name="adj" fmla="val 4521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124" name="Shape 122"/>
          <p:cNvSpPr/>
          <p:nvPr/>
        </p:nvSpPr>
        <p:spPr>
          <a:xfrm>
            <a:off x="4626864" y="3275244"/>
            <a:ext cx="54864" cy="810000"/>
          </a:xfrm>
          <a:prstGeom prst="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736592" y="3320964"/>
            <a:ext cx="41696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50" dirty="0">
                <a:solidFill>
                  <a:srgbClr val="1B5EA8"/>
                </a:solidFill>
              </a:rPr>
              <a:t>Correlação moderada · r = −0.52 · p = 0.008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4736592" y="3458124"/>
            <a:ext cx="4169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é o principal driver de risco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4736592" y="3674799"/>
            <a:ext cx="4169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Latência tem correlação mais forte com score de risco que taxa de erro. Reduzir latência = maior impacto composto.</a:t>
            </a:r>
            <a:endParaRPr lang="en-US" sz="750" dirty="0"/>
          </a:p>
        </p:txBody>
      </p:sp>
      <p:sp>
        <p:nvSpPr>
          <p:cNvPr id="128" name="Text 126"/>
          <p:cNvSpPr/>
          <p:nvPr/>
        </p:nvSpPr>
        <p:spPr>
          <a:xfrm>
            <a:off x="4736592" y="3922844"/>
            <a:ext cx="4169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1B5EA8"/>
                </a:solidFill>
              </a:rPr>
              <a:t>→ Focar em latência primeiro antes de focar em erros.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4626864" y="4151445"/>
            <a:ext cx="4315968" cy="810000"/>
          </a:xfrm>
          <a:prstGeom prst="roundRect">
            <a:avLst>
              <a:gd name="adj" fmla="val 5950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130" name="Shape 128"/>
          <p:cNvSpPr/>
          <p:nvPr/>
        </p:nvSpPr>
        <p:spPr>
          <a:xfrm>
            <a:off x="4626864" y="4151445"/>
            <a:ext cx="54864" cy="810000"/>
          </a:xfrm>
          <a:prstGeom prst="rect">
            <a:avLst/>
          </a:prstGeom>
          <a:solidFill>
            <a:srgbClr val="1A6B3A"/>
          </a:solidFill>
          <a:ln w="12700">
            <a:noFill/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736592" y="4197165"/>
            <a:ext cx="41696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50" dirty="0">
                <a:solidFill>
                  <a:srgbClr val="1A6B3A"/>
                </a:solidFill>
              </a:rPr>
              <a:t>Insight estrutural — diagnóstico de causa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4736592" y="4334325"/>
            <a:ext cx="4169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e latência são problemas distintos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4736592" y="4539427"/>
            <a:ext cx="4169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Correlação negativa entre latência e erro (r=−0.42). APIs lentas ≠ APIs com erro. Squads e soluções diferentes.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4736592" y="4793258"/>
            <a:ext cx="4169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1A6B3A"/>
                </a:solidFill>
              </a:rPr>
              <a:t>→ Triar corretamente — não usar uma solução para dois problemas.</a:t>
            </a:r>
            <a:endParaRPr lang="en-US" sz="750" dirty="0"/>
          </a:p>
        </p:txBody>
      </p:sp>
      <p:sp>
        <p:nvSpPr>
          <p:cNvPr id="135" name="Text 133"/>
          <p:cNvSpPr/>
          <p:nvPr/>
        </p:nvSpPr>
        <p:spPr>
          <a:xfrm>
            <a:off x="4626864" y="5429265"/>
            <a:ext cx="2121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kern="0" spc="50" dirty="0">
                <a:solidFill>
                  <a:srgbClr val="003D7D"/>
                </a:solidFill>
              </a:rPr>
              <a:t>REDUÇÃO DE LATÊNCIA</a:t>
            </a:r>
            <a:endParaRPr lang="en-US" sz="750" dirty="0"/>
          </a:p>
        </p:txBody>
      </p:sp>
      <p:sp>
        <p:nvSpPr>
          <p:cNvPr id="136" name="Text 134"/>
          <p:cNvSpPr/>
          <p:nvPr/>
        </p:nvSpPr>
        <p:spPr>
          <a:xfrm>
            <a:off x="4626864" y="5612145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−10% latência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5303520" y="5667009"/>
            <a:ext cx="1408176" cy="1097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303523" y="5667009"/>
            <a:ext cx="971641" cy="109728"/>
          </a:xfrm>
          <a:prstGeom prst="rect">
            <a:avLst/>
          </a:prstGeom>
          <a:solidFill>
            <a:srgbClr val="1B5EA8"/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680801" y="5667009"/>
            <a:ext cx="594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</a:rPr>
              <a:t>R$ 46,34</a:t>
            </a:r>
            <a:endParaRPr lang="en-US" sz="650" dirty="0"/>
          </a:p>
        </p:txBody>
      </p:sp>
      <p:sp>
        <p:nvSpPr>
          <p:cNvPr id="140" name="Text 138"/>
          <p:cNvSpPr/>
          <p:nvPr/>
        </p:nvSpPr>
        <p:spPr>
          <a:xfrm>
            <a:off x="4626864" y="5849889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−20% latência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5303520" y="5904753"/>
            <a:ext cx="1408176" cy="1097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303520" y="5904753"/>
            <a:ext cx="1196950" cy="109728"/>
          </a:xfrm>
          <a:prstGeom prst="rect">
            <a:avLst/>
          </a:prstGeom>
          <a:solidFill>
            <a:srgbClr val="003D7D"/>
          </a:solidFill>
          <a:ln w="12700">
            <a:solidFill>
              <a:srgbClr val="003D7D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906110" y="5904753"/>
            <a:ext cx="594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</a:rPr>
              <a:t>R$ 56,64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4626864" y="6087633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−30% latência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5303520" y="6142497"/>
            <a:ext cx="1408176" cy="1097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303520" y="6142497"/>
            <a:ext cx="1408176" cy="109728"/>
          </a:xfrm>
          <a:prstGeom prst="rect">
            <a:avLst/>
          </a:prstGeom>
          <a:solidFill>
            <a:srgbClr val="002C5A"/>
          </a:solidFill>
          <a:ln w="12700">
            <a:solidFill>
              <a:srgbClr val="002C5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117336" y="6142497"/>
            <a:ext cx="594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</a:rPr>
              <a:t>R$ 66,94</a:t>
            </a:r>
            <a:endParaRPr lang="en-US" sz="650" dirty="0"/>
          </a:p>
        </p:txBody>
      </p:sp>
      <p:sp>
        <p:nvSpPr>
          <p:cNvPr id="148" name="Text 146"/>
          <p:cNvSpPr/>
          <p:nvPr/>
        </p:nvSpPr>
        <p:spPr>
          <a:xfrm>
            <a:off x="6821424" y="5429265"/>
            <a:ext cx="2121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kern="0" spc="50" dirty="0">
                <a:solidFill>
                  <a:srgbClr val="EC7000"/>
                </a:solidFill>
              </a:rPr>
              <a:t>REDUÇÃO DE TAXA DE ERRO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6821424" y="5612145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−10% erros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7406640" y="5667009"/>
            <a:ext cx="1408176" cy="1097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406640" y="5667009"/>
            <a:ext cx="464698" cy="109728"/>
          </a:xfrm>
          <a:prstGeom prst="rect">
            <a:avLst/>
          </a:prstGeom>
          <a:solidFill>
            <a:srgbClr val="F8A055"/>
          </a:solidFill>
          <a:ln w="12700">
            <a:solidFill>
              <a:srgbClr val="F8A05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821424" y="5849889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−20% erros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7406640" y="5904753"/>
            <a:ext cx="1408176" cy="1097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406640" y="5904753"/>
            <a:ext cx="943478" cy="109728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7801478" y="5904753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</a:rPr>
              <a:t>R$ 10,95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6821424" y="6087633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−30% erros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7406640" y="6142497"/>
            <a:ext cx="1408176" cy="1097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406640" y="6142497"/>
            <a:ext cx="1408176" cy="109728"/>
          </a:xfrm>
          <a:prstGeom prst="rect">
            <a:avLst/>
          </a:prstGeom>
          <a:solidFill>
            <a:srgbClr val="B35200"/>
          </a:solidFill>
          <a:ln w="12700">
            <a:solidFill>
              <a:srgbClr val="B3520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8266176" y="6142497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</a:rPr>
              <a:t>R$ 16,42</a:t>
            </a:r>
            <a:endParaRPr lang="en-US" sz="650" dirty="0"/>
          </a:p>
        </p:txBody>
      </p:sp>
      <p:sp>
        <p:nvSpPr>
          <p:cNvPr id="160" name="Shape 158"/>
          <p:cNvSpPr/>
          <p:nvPr/>
        </p:nvSpPr>
        <p:spPr>
          <a:xfrm>
            <a:off x="4626864" y="6416817"/>
            <a:ext cx="4315968" cy="256032"/>
          </a:xfrm>
          <a:prstGeom prst="roundRect">
            <a:avLst/>
          </a:prstGeom>
          <a:solidFill>
            <a:srgbClr val="283FFE"/>
          </a:solidFill>
          <a:ln w="12700">
            <a:noFill/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622430" y="6416817"/>
            <a:ext cx="43204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chemeClr val="bg1"/>
                </a:solidFill>
              </a:rPr>
              <a:t>💡  Combinando −20% latência + −20% erros → R$ 67,59/mês recuperados = 36,6% do custo total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2" name="Shape 160"/>
          <p:cNvSpPr/>
          <p:nvPr/>
        </p:nvSpPr>
        <p:spPr>
          <a:xfrm>
            <a:off x="201168" y="6801595"/>
            <a:ext cx="45720" cy="201168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292608" y="6801595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kern="0" spc="200" dirty="0">
                <a:solidFill>
                  <a:srgbClr val="EC7000"/>
                </a:solidFill>
              </a:rPr>
              <a:t>COMO CHEGAMOS AQUI — SCORE DE RISCO MULTICRITÉRIO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201168" y="7057627"/>
            <a:ext cx="2123694" cy="1078992"/>
          </a:xfrm>
          <a:prstGeom prst="roundRect">
            <a:avLst>
              <a:gd name="adj" fmla="val 2949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165" name="Shape 163"/>
          <p:cNvSpPr/>
          <p:nvPr/>
        </p:nvSpPr>
        <p:spPr>
          <a:xfrm>
            <a:off x="201168" y="7057627"/>
            <a:ext cx="54864" cy="1078992"/>
          </a:xfrm>
          <a:prstGeom prst="rect">
            <a:avLst/>
          </a:prstGeom>
          <a:solidFill>
            <a:srgbClr val="C0392B"/>
          </a:solidFill>
          <a:ln w="12700">
            <a:noFill/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10896" y="7121635"/>
            <a:ext cx="19773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00" dirty="0">
                <a:solidFill>
                  <a:srgbClr val="C0392B"/>
                </a:solidFill>
              </a:rPr>
              <a:t>PERFORMANCE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310896" y="7258795"/>
            <a:ext cx="19773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de resposta</a:t>
            </a:r>
            <a:endParaRPr lang="en-US" sz="1050" dirty="0"/>
          </a:p>
        </p:txBody>
      </p:sp>
      <p:sp>
        <p:nvSpPr>
          <p:cNvPr id="168" name="Text 166"/>
          <p:cNvSpPr/>
          <p:nvPr/>
        </p:nvSpPr>
        <p:spPr>
          <a:xfrm>
            <a:off x="310896" y="7395311"/>
            <a:ext cx="19773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700" dirty="0">
                <a:solidFill>
                  <a:srgbClr val="444444"/>
                </a:solidFill>
              </a:rPr>
              <a:t>Tempo médio (ms). Limiar crítico acima do P50 do portfólio — 9.120ms. APIs lentas degradam experiência e aumentam risco composto.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310896" y="7935451"/>
            <a:ext cx="1922526" cy="146304"/>
          </a:xfrm>
          <a:prstGeom prst="rect">
            <a:avLst/>
          </a:prstGeom>
          <a:solidFill>
            <a:srgbClr val="FDEDEB"/>
          </a:solidFill>
          <a:ln w="5080">
            <a:solidFill>
              <a:srgbClr val="C0392B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310896" y="7935451"/>
            <a:ext cx="19225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C0392B"/>
                </a:solidFill>
              </a:rPr>
              <a:t>CRÍTICO &gt; 9.120ms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2407158" y="7057627"/>
            <a:ext cx="2123694" cy="1078992"/>
          </a:xfrm>
          <a:prstGeom prst="roundRect">
            <a:avLst>
              <a:gd name="adj" fmla="val 4169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172" name="Shape 170"/>
          <p:cNvSpPr/>
          <p:nvPr/>
        </p:nvSpPr>
        <p:spPr>
          <a:xfrm>
            <a:off x="2407158" y="7057627"/>
            <a:ext cx="54864" cy="1078992"/>
          </a:xfrm>
          <a:prstGeom prst="rect">
            <a:avLst/>
          </a:prstGeom>
          <a:solidFill>
            <a:srgbClr val="EC7000"/>
          </a:solidFill>
          <a:ln w="12700">
            <a:noFill/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2516886" y="7121635"/>
            <a:ext cx="19773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00" dirty="0">
                <a:solidFill>
                  <a:srgbClr val="EC7000"/>
                </a:solidFill>
              </a:rPr>
              <a:t>TAXA DE ERRO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2516886" y="7258795"/>
            <a:ext cx="19773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por requisição</a:t>
            </a:r>
            <a:endParaRPr lang="en-US" sz="1050" dirty="0"/>
          </a:p>
        </p:txBody>
      </p:sp>
      <p:sp>
        <p:nvSpPr>
          <p:cNvPr id="175" name="Text 173"/>
          <p:cNvSpPr/>
          <p:nvPr/>
        </p:nvSpPr>
        <p:spPr>
          <a:xfrm>
            <a:off x="2516886" y="7395311"/>
            <a:ext cx="19773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700" dirty="0">
                <a:solidFill>
                  <a:srgbClr val="444444"/>
                </a:solidFill>
              </a:rPr>
              <a:t>% de chamadas com erro. Limiar ATENÇÃO ≥1%, CRÍTICO &gt;27,6% (P75). Cada erro é custo sem retorno — desperdício direto de R$.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516886" y="7935451"/>
            <a:ext cx="1922526" cy="146304"/>
          </a:xfrm>
          <a:prstGeom prst="rect">
            <a:avLst/>
          </a:prstGeom>
          <a:solidFill>
            <a:srgbClr val="FEF0E6"/>
          </a:solidFill>
          <a:ln w="5080">
            <a:solidFill>
              <a:srgbClr val="EC700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2516886" y="7935451"/>
            <a:ext cx="19225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D45A00"/>
                </a:solidFill>
              </a:rPr>
              <a:t>CRÍTICO &gt; 27,6%</a:t>
            </a:r>
            <a:endParaRPr lang="en-US" sz="750" dirty="0"/>
          </a:p>
        </p:txBody>
      </p:sp>
      <p:sp>
        <p:nvSpPr>
          <p:cNvPr id="178" name="Shape 176"/>
          <p:cNvSpPr/>
          <p:nvPr/>
        </p:nvSpPr>
        <p:spPr>
          <a:xfrm>
            <a:off x="4613148" y="7057627"/>
            <a:ext cx="2123694" cy="1078992"/>
          </a:xfrm>
          <a:prstGeom prst="roundRect">
            <a:avLst>
              <a:gd name="adj" fmla="val 2644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179" name="Shape 177"/>
          <p:cNvSpPr/>
          <p:nvPr/>
        </p:nvSpPr>
        <p:spPr>
          <a:xfrm>
            <a:off x="4613148" y="7057627"/>
            <a:ext cx="54864" cy="1078992"/>
          </a:xfrm>
          <a:prstGeom prst="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722876" y="7121635"/>
            <a:ext cx="19773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00" dirty="0">
                <a:solidFill>
                  <a:srgbClr val="1B5EA8"/>
                </a:solidFill>
              </a:rPr>
              <a:t>MATURIDADE</a:t>
            </a:r>
            <a:endParaRPr lang="en-US" sz="700" dirty="0"/>
          </a:p>
        </p:txBody>
      </p:sp>
      <p:sp>
        <p:nvSpPr>
          <p:cNvPr id="181" name="Text 179"/>
          <p:cNvSpPr/>
          <p:nvPr/>
        </p:nvSpPr>
        <p:spPr>
          <a:xfrm>
            <a:off x="4722876" y="7258795"/>
            <a:ext cx="19773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release</a:t>
            </a:r>
            <a:endParaRPr lang="en-US" sz="1050" dirty="0"/>
          </a:p>
        </p:txBody>
      </p:sp>
      <p:sp>
        <p:nvSpPr>
          <p:cNvPr id="182" name="Text 180"/>
          <p:cNvSpPr/>
          <p:nvPr/>
        </p:nvSpPr>
        <p:spPr>
          <a:xfrm>
            <a:off x="4722876" y="7395311"/>
            <a:ext cx="19773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700" dirty="0">
                <a:solidFill>
                  <a:srgbClr val="444444"/>
                </a:solidFill>
              </a:rPr>
              <a:t>Tempo nas fases New → Pre-Released → Released. Ciclos longos = risco de instabilidade operacional e dívida técnica acumulada.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4722876" y="7935451"/>
            <a:ext cx="1922526" cy="146304"/>
          </a:xfrm>
          <a:prstGeom prst="rect">
            <a:avLst/>
          </a:prstGeom>
          <a:solidFill>
            <a:srgbClr val="E8F0FA"/>
          </a:solidFill>
          <a:ln w="5080">
            <a:solidFill>
              <a:srgbClr val="1B5EA8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722876" y="7935451"/>
            <a:ext cx="19225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003D7D"/>
                </a:solidFill>
              </a:rPr>
              <a:t>YD3: 363 dias em New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6819138" y="7057627"/>
            <a:ext cx="2123694" cy="1078992"/>
          </a:xfrm>
          <a:prstGeom prst="roundRect">
            <a:avLst>
              <a:gd name="adj" fmla="val 3864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186" name="Shape 184"/>
          <p:cNvSpPr/>
          <p:nvPr/>
        </p:nvSpPr>
        <p:spPr>
          <a:xfrm>
            <a:off x="6819138" y="7057627"/>
            <a:ext cx="54864" cy="1078992"/>
          </a:xfrm>
          <a:prstGeom prst="rect">
            <a:avLst/>
          </a:prstGeom>
          <a:solidFill>
            <a:srgbClr val="1A6B3A"/>
          </a:solidFill>
          <a:ln w="12700">
            <a:noFill/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6928866" y="7121635"/>
            <a:ext cx="19773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00" dirty="0">
                <a:solidFill>
                  <a:srgbClr val="1A6B3A"/>
                </a:solidFill>
              </a:rPr>
              <a:t>CUSTO &amp; EFICIÊNCIA</a:t>
            </a:r>
            <a:endParaRPr lang="en-US" sz="700" dirty="0"/>
          </a:p>
        </p:txBody>
      </p:sp>
      <p:sp>
        <p:nvSpPr>
          <p:cNvPr id="188" name="Text 186"/>
          <p:cNvSpPr/>
          <p:nvPr/>
        </p:nvSpPr>
        <p:spPr>
          <a:xfrm>
            <a:off x="6928866" y="7258795"/>
            <a:ext cx="19773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financeiro</a:t>
            </a:r>
            <a:endParaRPr lang="en-US" sz="1050" dirty="0"/>
          </a:p>
        </p:txBody>
      </p:sp>
      <p:sp>
        <p:nvSpPr>
          <p:cNvPr id="189" name="Text 187"/>
          <p:cNvSpPr/>
          <p:nvPr/>
        </p:nvSpPr>
        <p:spPr>
          <a:xfrm>
            <a:off x="6928866" y="7395311"/>
            <a:ext cx="19773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700" dirty="0">
                <a:solidFill>
                  <a:srgbClr val="444444"/>
                </a:solidFill>
              </a:rPr>
              <a:t>Custo mensal e % de desperdício por erros. Outliers acima de R$11,60/mês recebem classificação CRÍTICO. Peso 1,5 no score.</a:t>
            </a:r>
            <a:endParaRPr lang="en-US" sz="700" dirty="0"/>
          </a:p>
        </p:txBody>
      </p:sp>
      <p:sp>
        <p:nvSpPr>
          <p:cNvPr id="190" name="Shape 188"/>
          <p:cNvSpPr/>
          <p:nvPr/>
        </p:nvSpPr>
        <p:spPr>
          <a:xfrm>
            <a:off x="6928866" y="7935451"/>
            <a:ext cx="1922526" cy="146304"/>
          </a:xfrm>
          <a:prstGeom prst="rect">
            <a:avLst/>
          </a:prstGeom>
          <a:solidFill>
            <a:srgbClr val="EAF5EE"/>
          </a:solidFill>
          <a:ln w="5080">
            <a:solidFill>
              <a:srgbClr val="1A6B3A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928866" y="7935451"/>
            <a:ext cx="19225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1A6B3A"/>
                </a:solidFill>
              </a:rPr>
              <a:t>CRÍTICO &gt; R$11,60/mês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201168" y="8275127"/>
            <a:ext cx="8741664" cy="256032"/>
          </a:xfrm>
          <a:prstGeom prst="roundRect">
            <a:avLst/>
          </a:prstGeom>
          <a:solidFill>
            <a:srgbClr val="283FFE"/>
          </a:solidFill>
          <a:ln w="12700">
            <a:noFill/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201168" y="8275127"/>
            <a:ext cx="8741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</a:rPr>
              <a:t>SCORE FINAL = (Performance × 2,0) + (Taxa de Erro × 2,0) + (Maturidade × 1,5) + (Custo × 1,5)   →   ALTO ≥ 3,5   |   CRÍTICO ≥ 5,0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94" name="Shape 192"/>
          <p:cNvSpPr/>
          <p:nvPr/>
        </p:nvSpPr>
        <p:spPr>
          <a:xfrm>
            <a:off x="201168" y="8676243"/>
            <a:ext cx="45720" cy="201168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292608" y="8676243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kern="0" spc="200" dirty="0">
                <a:solidFill>
                  <a:srgbClr val="F36203"/>
                </a:solidFill>
              </a:rPr>
              <a:t>API HEALTH INTELLIGENCE PLATFORM — PRÓXIMOS PASSOS</a:t>
            </a:r>
            <a:endParaRPr lang="en-US" sz="750" dirty="0">
              <a:solidFill>
                <a:srgbClr val="F36203"/>
              </a:solidFill>
            </a:endParaRPr>
          </a:p>
        </p:txBody>
      </p:sp>
      <p:sp>
        <p:nvSpPr>
          <p:cNvPr id="196" name="Shape 194"/>
          <p:cNvSpPr/>
          <p:nvPr/>
        </p:nvSpPr>
        <p:spPr>
          <a:xfrm>
            <a:off x="201168" y="8932275"/>
            <a:ext cx="2935224" cy="804672"/>
          </a:xfrm>
          <a:prstGeom prst="roundRect">
            <a:avLst>
              <a:gd name="adj" fmla="val 5592"/>
            </a:avLst>
          </a:prstGeom>
          <a:solidFill>
            <a:srgbClr val="E8F0FA"/>
          </a:solidFill>
          <a:ln w="5080">
            <a:noFill/>
            <a:prstDash val="solid"/>
          </a:ln>
          <a:effectLst/>
        </p:spPr>
      </p:sp>
      <p:sp>
        <p:nvSpPr>
          <p:cNvPr id="197" name="Shape 195"/>
          <p:cNvSpPr/>
          <p:nvPr/>
        </p:nvSpPr>
        <p:spPr>
          <a:xfrm>
            <a:off x="201168" y="8923135"/>
            <a:ext cx="2929382" cy="45719"/>
          </a:xfrm>
          <a:prstGeom prst="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292608" y="9023715"/>
            <a:ext cx="2807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0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Score de Risco Contínuo</a:t>
            </a:r>
            <a:endParaRPr lang="en-US" sz="950" dirty="0"/>
          </a:p>
        </p:txBody>
      </p:sp>
      <p:sp>
        <p:nvSpPr>
          <p:cNvPr id="199" name="Text 197"/>
          <p:cNvSpPr/>
          <p:nvPr/>
        </p:nvSpPr>
        <p:spPr>
          <a:xfrm>
            <a:off x="292608" y="9261459"/>
            <a:ext cx="2807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444444"/>
                </a:solidFill>
              </a:rPr>
              <a:t>Recalculado automaticamente por ciclo. Nenhuma API em branco — visibilidade total e priorização baseada em dados, sem esforço manual.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3209544" y="8932275"/>
            <a:ext cx="2935224" cy="804672"/>
          </a:xfrm>
          <a:prstGeom prst="roundRect">
            <a:avLst>
              <a:gd name="adj" fmla="val 6074"/>
            </a:avLst>
          </a:prstGeom>
          <a:solidFill>
            <a:srgbClr val="E8F0FA"/>
          </a:solidFill>
          <a:ln w="5080">
            <a:noFill/>
            <a:prstDash val="solid"/>
          </a:ln>
          <a:effectLst/>
        </p:spPr>
      </p:sp>
      <p:sp>
        <p:nvSpPr>
          <p:cNvPr id="201" name="Shape 199"/>
          <p:cNvSpPr/>
          <p:nvPr/>
        </p:nvSpPr>
        <p:spPr>
          <a:xfrm>
            <a:off x="3209544" y="8932275"/>
            <a:ext cx="2935224" cy="36576"/>
          </a:xfrm>
          <a:prstGeom prst="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3300984" y="9023715"/>
            <a:ext cx="2807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0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Agente Autônomo de IA</a:t>
            </a:r>
            <a:endParaRPr lang="en-US" sz="950" dirty="0"/>
          </a:p>
        </p:txBody>
      </p:sp>
      <p:sp>
        <p:nvSpPr>
          <p:cNvPr id="203" name="Text 201"/>
          <p:cNvSpPr/>
          <p:nvPr/>
        </p:nvSpPr>
        <p:spPr>
          <a:xfrm>
            <a:off x="3300984" y="9261459"/>
            <a:ext cx="2807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444444"/>
                </a:solidFill>
              </a:rPr>
              <a:t>Detecta degradação em tempo real, cria recomendações e aciona alertas antes que o problema vire incidente ou afete o cliente final.</a:t>
            </a:r>
            <a:endParaRPr lang="en-US" sz="800" dirty="0"/>
          </a:p>
        </p:txBody>
      </p:sp>
      <p:sp>
        <p:nvSpPr>
          <p:cNvPr id="204" name="Shape 202"/>
          <p:cNvSpPr/>
          <p:nvPr/>
        </p:nvSpPr>
        <p:spPr>
          <a:xfrm>
            <a:off x="201168" y="9810099"/>
            <a:ext cx="2935224" cy="804672"/>
          </a:xfrm>
          <a:prstGeom prst="roundRect">
            <a:avLst>
              <a:gd name="adj" fmla="val 6074"/>
            </a:avLst>
          </a:prstGeom>
          <a:solidFill>
            <a:srgbClr val="E8F0FA"/>
          </a:solidFill>
          <a:ln w="5080">
            <a:noFill/>
            <a:prstDash val="solid"/>
          </a:ln>
          <a:effectLst/>
        </p:spPr>
      </p:sp>
      <p:sp>
        <p:nvSpPr>
          <p:cNvPr id="205" name="Shape 203"/>
          <p:cNvSpPr/>
          <p:nvPr/>
        </p:nvSpPr>
        <p:spPr>
          <a:xfrm>
            <a:off x="201168" y="9810099"/>
            <a:ext cx="2935224" cy="36576"/>
          </a:xfrm>
          <a:prstGeom prst="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292608" y="9901539"/>
            <a:ext cx="2807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0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Custo &amp; Desperdício</a:t>
            </a:r>
            <a:endParaRPr lang="en-US" sz="950" dirty="0"/>
          </a:p>
        </p:txBody>
      </p:sp>
      <p:sp>
        <p:nvSpPr>
          <p:cNvPr id="207" name="Text 205"/>
          <p:cNvSpPr/>
          <p:nvPr/>
        </p:nvSpPr>
        <p:spPr>
          <a:xfrm>
            <a:off x="292608" y="10139283"/>
            <a:ext cx="2807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444444"/>
                </a:solidFill>
              </a:rPr>
              <a:t>Rastreio de R$ gastos com requisições de erro. ROI de cada ação de melhoria visível em tempo real para toda a liderança.</a:t>
            </a:r>
            <a:endParaRPr lang="en-US" sz="800" dirty="0"/>
          </a:p>
        </p:txBody>
      </p:sp>
      <p:sp>
        <p:nvSpPr>
          <p:cNvPr id="208" name="Shape 206"/>
          <p:cNvSpPr/>
          <p:nvPr/>
        </p:nvSpPr>
        <p:spPr>
          <a:xfrm>
            <a:off x="3209544" y="9810099"/>
            <a:ext cx="2935224" cy="804672"/>
          </a:xfrm>
          <a:prstGeom prst="roundRect">
            <a:avLst>
              <a:gd name="adj" fmla="val 7037"/>
            </a:avLst>
          </a:prstGeom>
          <a:solidFill>
            <a:srgbClr val="E8F0FA"/>
          </a:solidFill>
          <a:ln w="5080">
            <a:noFill/>
            <a:prstDash val="solid"/>
          </a:ln>
          <a:effectLst/>
        </p:spPr>
      </p:sp>
      <p:sp>
        <p:nvSpPr>
          <p:cNvPr id="209" name="Shape 207"/>
          <p:cNvSpPr/>
          <p:nvPr/>
        </p:nvSpPr>
        <p:spPr>
          <a:xfrm>
            <a:off x="3209544" y="9810099"/>
            <a:ext cx="2935224" cy="36576"/>
          </a:xfrm>
          <a:prstGeom prst="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3300984" y="9901539"/>
            <a:ext cx="2807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0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Governança de Release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3300984" y="10139283"/>
            <a:ext cx="2807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444444"/>
                </a:solidFill>
              </a:rPr>
              <a:t>Regras automáticas no ciclo New → Pre-Released → Released. Sem dívida técnica acumulando silenciosamente entre times.</a:t>
            </a:r>
            <a:endParaRPr lang="en-US" sz="800" dirty="0"/>
          </a:p>
        </p:txBody>
      </p:sp>
      <p:sp>
        <p:nvSpPr>
          <p:cNvPr id="212" name="Shape 210"/>
          <p:cNvSpPr/>
          <p:nvPr/>
        </p:nvSpPr>
        <p:spPr>
          <a:xfrm>
            <a:off x="201168" y="10687923"/>
            <a:ext cx="2935224" cy="804672"/>
          </a:xfrm>
          <a:prstGeom prst="roundRect">
            <a:avLst>
              <a:gd name="adj" fmla="val 6074"/>
            </a:avLst>
          </a:prstGeom>
          <a:solidFill>
            <a:srgbClr val="E8F0FA"/>
          </a:solidFill>
          <a:ln w="5080">
            <a:noFill/>
            <a:prstDash val="solid"/>
          </a:ln>
          <a:effectLst/>
        </p:spPr>
      </p:sp>
      <p:sp>
        <p:nvSpPr>
          <p:cNvPr id="213" name="Shape 211"/>
          <p:cNvSpPr/>
          <p:nvPr/>
        </p:nvSpPr>
        <p:spPr>
          <a:xfrm>
            <a:off x="201168" y="10687923"/>
            <a:ext cx="2935224" cy="36576"/>
          </a:xfrm>
          <a:prstGeom prst="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292608" y="10779363"/>
            <a:ext cx="2807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0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Visão por Sigla / Squad</a:t>
            </a:r>
            <a:endParaRPr lang="en-US" sz="950" dirty="0"/>
          </a:p>
        </p:txBody>
      </p:sp>
      <p:sp>
        <p:nvSpPr>
          <p:cNvPr id="215" name="Text 213"/>
          <p:cNvSpPr/>
          <p:nvPr/>
        </p:nvSpPr>
        <p:spPr>
          <a:xfrm>
            <a:off x="292608" y="11017107"/>
            <a:ext cx="2807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444444"/>
                </a:solidFill>
              </a:rPr>
              <a:t>Agrupamento inteligente por squad, produto ou domínio. Cada time vê seu portfólio — a liderança vê o todo consolidado.</a:t>
            </a:r>
            <a:endParaRPr lang="en-US" sz="800" dirty="0"/>
          </a:p>
        </p:txBody>
      </p:sp>
      <p:sp>
        <p:nvSpPr>
          <p:cNvPr id="216" name="Shape 214"/>
          <p:cNvSpPr/>
          <p:nvPr/>
        </p:nvSpPr>
        <p:spPr>
          <a:xfrm>
            <a:off x="3209544" y="10687923"/>
            <a:ext cx="2935224" cy="804672"/>
          </a:xfrm>
          <a:prstGeom prst="roundRect">
            <a:avLst>
              <a:gd name="adj" fmla="val 7037"/>
            </a:avLst>
          </a:prstGeom>
          <a:solidFill>
            <a:srgbClr val="E8F0FA"/>
          </a:solidFill>
          <a:ln w="5080">
            <a:noFill/>
            <a:prstDash val="solid"/>
          </a:ln>
          <a:effectLst/>
        </p:spPr>
      </p:sp>
      <p:sp>
        <p:nvSpPr>
          <p:cNvPr id="217" name="Shape 215"/>
          <p:cNvSpPr/>
          <p:nvPr/>
        </p:nvSpPr>
        <p:spPr>
          <a:xfrm>
            <a:off x="3209544" y="10687923"/>
            <a:ext cx="2935224" cy="36576"/>
          </a:xfrm>
          <a:prstGeom prst="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3300984" y="10779363"/>
            <a:ext cx="2807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0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Simulador de Cenários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3300984" y="11017107"/>
            <a:ext cx="2807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444444"/>
                </a:solidFill>
              </a:rPr>
              <a:t>Projeção financeira de cada intervenção antes de executar. Decisão baseada em evidência, não em intuição ou experiência isolada.</a:t>
            </a:r>
            <a:endParaRPr lang="en-US" sz="800" dirty="0"/>
          </a:p>
        </p:txBody>
      </p:sp>
      <p:sp>
        <p:nvSpPr>
          <p:cNvPr id="220" name="Shape 218"/>
          <p:cNvSpPr/>
          <p:nvPr/>
        </p:nvSpPr>
        <p:spPr>
          <a:xfrm>
            <a:off x="201168" y="8676243"/>
            <a:ext cx="45720" cy="201168"/>
          </a:xfrm>
          <a:prstGeom prst="rect">
            <a:avLst/>
          </a:prstGeom>
          <a:solidFill>
            <a:srgbClr val="EC7000"/>
          </a:solidFill>
          <a:ln w="12700">
            <a:noFill/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272784" y="8932275"/>
            <a:ext cx="2670048" cy="1172682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5080">
            <a:solidFill>
              <a:srgbClr val="E8E8E8"/>
            </a:solidFill>
            <a:prstDash val="solid"/>
          </a:ln>
          <a:effectLst/>
        </p:spPr>
      </p:sp>
      <p:sp>
        <p:nvSpPr>
          <p:cNvPr id="223" name="Shape 221"/>
          <p:cNvSpPr/>
          <p:nvPr/>
        </p:nvSpPr>
        <p:spPr>
          <a:xfrm>
            <a:off x="6272784" y="8932275"/>
            <a:ext cx="2670048" cy="274320"/>
          </a:xfrm>
          <a:prstGeom prst="round2SameRect">
            <a:avLst/>
          </a:prstGeom>
          <a:solidFill>
            <a:srgbClr val="C0392B"/>
          </a:solidFill>
          <a:ln w="12700">
            <a:noFill/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345936" y="8977995"/>
            <a:ext cx="182880" cy="182880"/>
          </a:xfrm>
          <a:prstGeom prst="ellipse">
            <a:avLst/>
          </a:prstGeom>
          <a:solidFill>
            <a:srgbClr val="D36D63"/>
          </a:solidFill>
          <a:ln w="5080">
            <a:noFill/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25" name="Text 223"/>
          <p:cNvSpPr/>
          <p:nvPr/>
        </p:nvSpPr>
        <p:spPr>
          <a:xfrm>
            <a:off x="6345936" y="8977995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600" dirty="0"/>
          </a:p>
        </p:txBody>
      </p:sp>
      <p:sp>
        <p:nvSpPr>
          <p:cNvPr id="226" name="Text 224"/>
          <p:cNvSpPr/>
          <p:nvPr/>
        </p:nvSpPr>
        <p:spPr>
          <a:xfrm>
            <a:off x="6574536" y="8950563"/>
            <a:ext cx="23225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Semanas 1–4</a:t>
            </a:r>
          </a:p>
        </p:txBody>
      </p:sp>
      <p:sp>
        <p:nvSpPr>
          <p:cNvPr id="227" name="Text 225"/>
          <p:cNvSpPr/>
          <p:nvPr/>
        </p:nvSpPr>
        <p:spPr>
          <a:xfrm>
            <a:off x="6574536" y="9051147"/>
            <a:ext cx="23225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Estabilização</a:t>
            </a:r>
            <a:endParaRPr lang="en-US" sz="1000" dirty="0"/>
          </a:p>
        </p:txBody>
      </p:sp>
      <p:sp>
        <p:nvSpPr>
          <p:cNvPr id="228" name="Text 226"/>
          <p:cNvSpPr/>
          <p:nvPr/>
        </p:nvSpPr>
        <p:spPr>
          <a:xfrm>
            <a:off x="6364224" y="9224883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Correção das 7 APIs CRÍTICAS</a:t>
            </a:r>
            <a:endParaRPr lang="en-US" sz="750" dirty="0"/>
          </a:p>
        </p:txBody>
      </p:sp>
      <p:sp>
        <p:nvSpPr>
          <p:cNvPr id="229" name="Text 227"/>
          <p:cNvSpPr/>
          <p:nvPr/>
        </p:nvSpPr>
        <p:spPr>
          <a:xfrm>
            <a:off x="6364224" y="9380331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Eliminar R$ 54,73 de desperdício</a:t>
            </a:r>
            <a:endParaRPr lang="en-US" sz="750" dirty="0"/>
          </a:p>
        </p:txBody>
      </p:sp>
      <p:sp>
        <p:nvSpPr>
          <p:cNvPr id="230" name="Text 228"/>
          <p:cNvSpPr/>
          <p:nvPr/>
        </p:nvSpPr>
        <p:spPr>
          <a:xfrm>
            <a:off x="6364224" y="9535779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SLOs mínimos definidos</a:t>
            </a:r>
            <a:endParaRPr lang="en-US" sz="750" dirty="0"/>
          </a:p>
        </p:txBody>
      </p:sp>
      <p:sp>
        <p:nvSpPr>
          <p:cNvPr id="231" name="Text 229"/>
          <p:cNvSpPr/>
          <p:nvPr/>
        </p:nvSpPr>
        <p:spPr>
          <a:xfrm>
            <a:off x="6364224" y="9691227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Alertas básicos ativos</a:t>
            </a:r>
            <a:endParaRPr lang="en-US" sz="750" dirty="0"/>
          </a:p>
        </p:txBody>
      </p:sp>
      <p:grpSp>
        <p:nvGrpSpPr>
          <p:cNvPr id="1046" name="Agrupar 1045">
            <a:extLst>
              <a:ext uri="{FF2B5EF4-FFF2-40B4-BE49-F238E27FC236}">
                <a16:creationId xmlns:a16="http://schemas.microsoft.com/office/drawing/2014/main" id="{D9F51590-85BC-CAD1-3F51-586FA5FF98F6}"/>
              </a:ext>
            </a:extLst>
          </p:cNvPr>
          <p:cNvGrpSpPr/>
          <p:nvPr/>
        </p:nvGrpSpPr>
        <p:grpSpPr>
          <a:xfrm>
            <a:off x="6424168" y="9903064"/>
            <a:ext cx="1080000" cy="144000"/>
            <a:chOff x="201168" y="11513857"/>
            <a:chExt cx="1080000" cy="144000"/>
          </a:xfrm>
        </p:grpSpPr>
        <p:sp>
          <p:nvSpPr>
            <p:cNvPr id="232" name="Shape 230"/>
            <p:cNvSpPr/>
            <p:nvPr/>
          </p:nvSpPr>
          <p:spPr>
            <a:xfrm>
              <a:off x="201168" y="11513857"/>
              <a:ext cx="1080000" cy="144000"/>
            </a:xfrm>
            <a:prstGeom prst="roundRect">
              <a:avLst/>
            </a:prstGeom>
            <a:solidFill>
              <a:srgbClr val="EAF5EE"/>
            </a:solidFill>
            <a:ln w="5080">
              <a:noFill/>
              <a:prstDash val="solid"/>
            </a:ln>
          </p:spPr>
        </p:sp>
        <p:sp>
          <p:nvSpPr>
            <p:cNvPr id="233" name="Text 231"/>
            <p:cNvSpPr/>
            <p:nvPr/>
          </p:nvSpPr>
          <p:spPr>
            <a:xfrm>
              <a:off x="201168" y="11513857"/>
              <a:ext cx="1080000" cy="144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750" b="1" dirty="0">
                  <a:solidFill>
                    <a:srgbClr val="1A6B3A"/>
                  </a:solidFill>
                </a:rPr>
                <a:t>KPI: desperdício &lt; 15%</a:t>
              </a:r>
              <a:endParaRPr lang="en-US" sz="750" dirty="0"/>
            </a:p>
          </p:txBody>
        </p:sp>
      </p:grpSp>
      <p:sp>
        <p:nvSpPr>
          <p:cNvPr id="234" name="Shape 232"/>
          <p:cNvSpPr/>
          <p:nvPr/>
        </p:nvSpPr>
        <p:spPr>
          <a:xfrm>
            <a:off x="6272784" y="10166712"/>
            <a:ext cx="2670048" cy="1170000"/>
          </a:xfrm>
          <a:prstGeom prst="roundRect">
            <a:avLst>
              <a:gd name="adj" fmla="val 3874"/>
            </a:avLst>
          </a:prstGeom>
          <a:solidFill>
            <a:srgbClr val="FFFFFF"/>
          </a:solidFill>
          <a:ln w="5080">
            <a:solidFill>
              <a:srgbClr val="E8E8E8"/>
            </a:solidFill>
            <a:prstDash val="solid"/>
          </a:ln>
          <a:effectLst/>
        </p:spPr>
      </p:sp>
      <p:sp>
        <p:nvSpPr>
          <p:cNvPr id="235" name="Shape 233"/>
          <p:cNvSpPr/>
          <p:nvPr/>
        </p:nvSpPr>
        <p:spPr>
          <a:xfrm>
            <a:off x="6272784" y="10166712"/>
            <a:ext cx="2670048" cy="274320"/>
          </a:xfrm>
          <a:prstGeom prst="round2SameRect">
            <a:avLst/>
          </a:prstGeom>
          <a:solidFill>
            <a:srgbClr val="EC7000"/>
          </a:solidFill>
          <a:ln w="12700">
            <a:noFill/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345936" y="10212432"/>
            <a:ext cx="182880" cy="182880"/>
          </a:xfrm>
          <a:prstGeom prst="ellipse">
            <a:avLst/>
          </a:prstGeom>
          <a:solidFill>
            <a:srgbClr val="F49456"/>
          </a:solidFill>
          <a:ln w="5080">
            <a:noFill/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6345936" y="10212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750" dirty="0"/>
          </a:p>
        </p:txBody>
      </p:sp>
      <p:sp>
        <p:nvSpPr>
          <p:cNvPr id="238" name="Text 236"/>
          <p:cNvSpPr/>
          <p:nvPr/>
        </p:nvSpPr>
        <p:spPr>
          <a:xfrm>
            <a:off x="6574536" y="10185000"/>
            <a:ext cx="23225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Meses 2–4</a:t>
            </a:r>
          </a:p>
        </p:txBody>
      </p:sp>
      <p:sp>
        <p:nvSpPr>
          <p:cNvPr id="239" name="Text 237"/>
          <p:cNvSpPr/>
          <p:nvPr/>
        </p:nvSpPr>
        <p:spPr>
          <a:xfrm>
            <a:off x="6574536" y="10285584"/>
            <a:ext cx="23225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+ Governança</a:t>
            </a:r>
            <a:endParaRPr lang="en-US" sz="1000" dirty="0"/>
          </a:p>
        </p:txBody>
      </p:sp>
      <p:sp>
        <p:nvSpPr>
          <p:cNvPr id="240" name="Text 238"/>
          <p:cNvSpPr/>
          <p:nvPr/>
        </p:nvSpPr>
        <p:spPr>
          <a:xfrm>
            <a:off x="6364224" y="10459320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Tratamento das 18 APIs ALTO</a:t>
            </a:r>
            <a:endParaRPr lang="en-US" sz="750" dirty="0"/>
          </a:p>
        </p:txBody>
      </p:sp>
      <p:sp>
        <p:nvSpPr>
          <p:cNvPr id="241" name="Text 239"/>
          <p:cNvSpPr/>
          <p:nvPr/>
        </p:nvSpPr>
        <p:spPr>
          <a:xfrm>
            <a:off x="6364224" y="10614768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Score automático por ciclo</a:t>
            </a:r>
            <a:endParaRPr lang="en-US" sz="750" dirty="0"/>
          </a:p>
        </p:txBody>
      </p:sp>
      <p:sp>
        <p:nvSpPr>
          <p:cNvPr id="242" name="Text 240"/>
          <p:cNvSpPr/>
          <p:nvPr/>
        </p:nvSpPr>
        <p:spPr>
          <a:xfrm>
            <a:off x="6364224" y="10770216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Dashboard para liderança</a:t>
            </a:r>
            <a:endParaRPr lang="en-US" sz="750" dirty="0"/>
          </a:p>
        </p:txBody>
      </p:sp>
      <p:sp>
        <p:nvSpPr>
          <p:cNvPr id="243" name="Text 241"/>
          <p:cNvSpPr/>
          <p:nvPr/>
        </p:nvSpPr>
        <p:spPr>
          <a:xfrm>
            <a:off x="6364224" y="10925664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Regras de release gate</a:t>
            </a:r>
            <a:endParaRPr lang="en-US" sz="750" dirty="0"/>
          </a:p>
        </p:txBody>
      </p:sp>
      <p:sp>
        <p:nvSpPr>
          <p:cNvPr id="246" name="Shape 244"/>
          <p:cNvSpPr/>
          <p:nvPr/>
        </p:nvSpPr>
        <p:spPr>
          <a:xfrm>
            <a:off x="6272784" y="11407507"/>
            <a:ext cx="2670048" cy="1176257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5080">
            <a:solidFill>
              <a:srgbClr val="E8E8E8"/>
            </a:solidFill>
            <a:prstDash val="solid"/>
          </a:ln>
          <a:effectLst/>
        </p:spPr>
      </p:sp>
      <p:sp>
        <p:nvSpPr>
          <p:cNvPr id="247" name="Shape 245"/>
          <p:cNvSpPr/>
          <p:nvPr/>
        </p:nvSpPr>
        <p:spPr>
          <a:xfrm>
            <a:off x="6272784" y="11407505"/>
            <a:ext cx="2670048" cy="274320"/>
          </a:xfrm>
          <a:prstGeom prst="round2Same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345936" y="11453225"/>
            <a:ext cx="182880" cy="182880"/>
          </a:xfrm>
          <a:prstGeom prst="ellipse">
            <a:avLst/>
          </a:prstGeom>
          <a:solidFill>
            <a:srgbClr val="5886BF"/>
          </a:solidFill>
          <a:ln w="5080">
            <a:noFill/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6574536" y="11425793"/>
            <a:ext cx="23225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Meses 5–12</a:t>
            </a:r>
          </a:p>
        </p:txBody>
      </p:sp>
      <p:sp>
        <p:nvSpPr>
          <p:cNvPr id="251" name="Text 249"/>
          <p:cNvSpPr/>
          <p:nvPr/>
        </p:nvSpPr>
        <p:spPr>
          <a:xfrm>
            <a:off x="6574536" y="11526377"/>
            <a:ext cx="23225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com IA</a:t>
            </a:r>
            <a:endParaRPr lang="en-US" sz="1000" dirty="0"/>
          </a:p>
        </p:txBody>
      </p:sp>
      <p:sp>
        <p:nvSpPr>
          <p:cNvPr id="252" name="Text 250"/>
          <p:cNvSpPr/>
          <p:nvPr/>
        </p:nvSpPr>
        <p:spPr>
          <a:xfrm>
            <a:off x="6364224" y="11700113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Agente autônomo em produção</a:t>
            </a:r>
            <a:endParaRPr lang="en-US" sz="750" dirty="0"/>
          </a:p>
        </p:txBody>
      </p:sp>
      <p:sp>
        <p:nvSpPr>
          <p:cNvPr id="253" name="Text 251"/>
          <p:cNvSpPr/>
          <p:nvPr/>
        </p:nvSpPr>
        <p:spPr>
          <a:xfrm>
            <a:off x="6364224" y="11855561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Simulador de cenários ativo</a:t>
            </a:r>
            <a:endParaRPr lang="en-US" sz="750" dirty="0"/>
          </a:p>
        </p:txBody>
      </p:sp>
      <p:sp>
        <p:nvSpPr>
          <p:cNvPr id="254" name="Text 252"/>
          <p:cNvSpPr/>
          <p:nvPr/>
        </p:nvSpPr>
        <p:spPr>
          <a:xfrm>
            <a:off x="6364224" y="12011009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Visão </a:t>
            </a:r>
            <a:r>
              <a:rPr lang="en-US" sz="750" dirty="0" err="1">
                <a:solidFill>
                  <a:srgbClr val="444444"/>
                </a:solidFill>
              </a:rPr>
              <a:t>consolidada</a:t>
            </a:r>
            <a:r>
              <a:rPr lang="en-US" sz="750" dirty="0">
                <a:solidFill>
                  <a:srgbClr val="444444"/>
                </a:solidFill>
              </a:rPr>
              <a:t> </a:t>
            </a:r>
            <a:r>
              <a:rPr lang="en-US" sz="750" dirty="0" err="1">
                <a:solidFill>
                  <a:srgbClr val="444444"/>
                </a:solidFill>
              </a:rPr>
              <a:t>comunidade</a:t>
            </a:r>
            <a:endParaRPr lang="en-US" sz="750" dirty="0"/>
          </a:p>
        </p:txBody>
      </p:sp>
      <p:sp>
        <p:nvSpPr>
          <p:cNvPr id="255" name="Text 253"/>
          <p:cNvSpPr/>
          <p:nvPr/>
        </p:nvSpPr>
        <p:spPr>
          <a:xfrm>
            <a:off x="6364224" y="12166457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Benchmarking contínuo</a:t>
            </a:r>
            <a:endParaRPr lang="en-US" sz="750" dirty="0"/>
          </a:p>
        </p:txBody>
      </p:sp>
      <p:sp>
        <p:nvSpPr>
          <p:cNvPr id="258" name="Shape 256"/>
          <p:cNvSpPr/>
          <p:nvPr/>
        </p:nvSpPr>
        <p:spPr>
          <a:xfrm>
            <a:off x="201168" y="12743037"/>
            <a:ext cx="8741664" cy="804672"/>
          </a:xfrm>
          <a:prstGeom prst="roundRect">
            <a:avLst>
              <a:gd name="adj" fmla="val 7453"/>
            </a:avLst>
          </a:prstGeom>
          <a:solidFill>
            <a:srgbClr val="283FFE"/>
          </a:solidFill>
          <a:ln w="12700">
            <a:noFill/>
            <a:prstDash val="solid"/>
          </a:ln>
          <a:effectLst/>
        </p:spPr>
      </p:sp>
      <p:sp>
        <p:nvSpPr>
          <p:cNvPr id="259" name="Text 257"/>
          <p:cNvSpPr/>
          <p:nvPr/>
        </p:nvSpPr>
        <p:spPr>
          <a:xfrm>
            <a:off x="329184" y="12807045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necessária: iniciar H1 agora + investimento na Plataforma de Saúde de APIs</a:t>
            </a:r>
            <a:endParaRPr lang="en-US" sz="1200" dirty="0"/>
          </a:p>
        </p:txBody>
      </p:sp>
      <p:sp>
        <p:nvSpPr>
          <p:cNvPr id="260" name="Text 258"/>
          <p:cNvSpPr/>
          <p:nvPr/>
        </p:nvSpPr>
        <p:spPr>
          <a:xfrm>
            <a:off x="329184" y="13017357"/>
            <a:ext cx="6217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i="1" dirty="0">
                <a:solidFill>
                  <a:schemeClr val="bg1">
                    <a:lumMod val="95000"/>
                  </a:schemeClr>
                </a:solidFill>
              </a:rPr>
              <a:t>Não é observabilidade. É eficiência operacional e confiabilidade como ativo estratégico do Itaú.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1" name="Text 259"/>
          <p:cNvSpPr/>
          <p:nvPr/>
        </p:nvSpPr>
        <p:spPr>
          <a:xfrm>
            <a:off x="329184" y="13218525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362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R$ 54,73</a:t>
            </a:r>
            <a:endParaRPr lang="en-US" sz="1400" dirty="0">
              <a:solidFill>
                <a:srgbClr val="F36203"/>
              </a:solidFill>
            </a:endParaRPr>
          </a:p>
        </p:txBody>
      </p:sp>
      <p:sp>
        <p:nvSpPr>
          <p:cNvPr id="262" name="Text 260"/>
          <p:cNvSpPr/>
          <p:nvPr/>
        </p:nvSpPr>
        <p:spPr>
          <a:xfrm>
            <a:off x="329184" y="13383117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desperdiçados/</a:t>
            </a:r>
            <a:r>
              <a:rPr lang="en-US" sz="700" dirty="0" err="1">
                <a:solidFill>
                  <a:schemeClr val="bg1">
                    <a:lumMod val="95000"/>
                  </a:schemeClr>
                </a:solidFill>
              </a:rPr>
              <a:t>mês</a:t>
            </a: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700" dirty="0" err="1">
                <a:solidFill>
                  <a:schemeClr val="bg1">
                    <a:lumMod val="95000"/>
                  </a:schemeClr>
                </a:solidFill>
              </a:rPr>
              <a:t>sem</a:t>
            </a: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 ação</a:t>
            </a:r>
          </a:p>
        </p:txBody>
      </p:sp>
      <p:sp>
        <p:nvSpPr>
          <p:cNvPr id="263" name="Shape 261"/>
          <p:cNvSpPr/>
          <p:nvPr/>
        </p:nvSpPr>
        <p:spPr>
          <a:xfrm>
            <a:off x="1810512" y="13200237"/>
            <a:ext cx="0" cy="27432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1901952" y="13218525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362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APIs</a:t>
            </a:r>
            <a:endParaRPr lang="en-US" sz="1400" dirty="0">
              <a:solidFill>
                <a:srgbClr val="F36203"/>
              </a:solidFill>
            </a:endParaRPr>
          </a:p>
        </p:txBody>
      </p:sp>
      <p:sp>
        <p:nvSpPr>
          <p:cNvPr id="265" name="Text 263"/>
          <p:cNvSpPr/>
          <p:nvPr/>
        </p:nvSpPr>
        <p:spPr>
          <a:xfrm>
            <a:off x="1901952" y="13383117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em </a:t>
            </a:r>
            <a:r>
              <a:rPr lang="en-US" sz="700" dirty="0" err="1">
                <a:solidFill>
                  <a:schemeClr val="bg1">
                    <a:lumMod val="95000"/>
                  </a:schemeClr>
                </a:solidFill>
              </a:rPr>
              <a:t>risco</a:t>
            </a: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 de </a:t>
            </a:r>
            <a:r>
              <a:rPr lang="en-US" sz="700" dirty="0" err="1">
                <a:solidFill>
                  <a:schemeClr val="bg1">
                    <a:lumMod val="95000"/>
                  </a:schemeClr>
                </a:solidFill>
              </a:rPr>
              <a:t>incidente</a:t>
            </a: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 grave</a:t>
            </a:r>
          </a:p>
        </p:txBody>
      </p:sp>
      <p:sp>
        <p:nvSpPr>
          <p:cNvPr id="266" name="Shape 264"/>
          <p:cNvSpPr/>
          <p:nvPr/>
        </p:nvSpPr>
        <p:spPr>
          <a:xfrm>
            <a:off x="3383280" y="13200237"/>
            <a:ext cx="0" cy="27432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3474720" y="13218525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362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>
              <a:solidFill>
                <a:srgbClr val="F36203"/>
              </a:solidFill>
            </a:endParaRPr>
          </a:p>
        </p:txBody>
      </p:sp>
      <p:sp>
        <p:nvSpPr>
          <p:cNvPr id="268" name="Text 266"/>
          <p:cNvSpPr/>
          <p:nvPr/>
        </p:nvSpPr>
        <p:spPr>
          <a:xfrm>
            <a:off x="3474720" y="13383117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fora dos </a:t>
            </a:r>
            <a:r>
              <a:rPr lang="en-US" sz="700" dirty="0" err="1">
                <a:solidFill>
                  <a:schemeClr val="bg1">
                    <a:lumMod val="95000"/>
                  </a:schemeClr>
                </a:solidFill>
              </a:rPr>
              <a:t>parâmetros</a:t>
            </a: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 ideais</a:t>
            </a:r>
          </a:p>
        </p:txBody>
      </p:sp>
      <p:sp>
        <p:nvSpPr>
          <p:cNvPr id="269" name="Shape 267"/>
          <p:cNvSpPr/>
          <p:nvPr/>
        </p:nvSpPr>
        <p:spPr>
          <a:xfrm>
            <a:off x="4956048" y="13200237"/>
            <a:ext cx="0" cy="27432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5047488" y="13218525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R$ 67,59</a:t>
            </a:r>
            <a:endParaRPr lang="en-US" sz="1400" dirty="0"/>
          </a:p>
        </p:txBody>
      </p:sp>
      <p:sp>
        <p:nvSpPr>
          <p:cNvPr id="271" name="Text 269"/>
          <p:cNvSpPr/>
          <p:nvPr/>
        </p:nvSpPr>
        <p:spPr>
          <a:xfrm>
            <a:off x="5047488" y="13383117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recuperáveis/</a:t>
            </a:r>
            <a:r>
              <a:rPr lang="en-US" sz="700" dirty="0" err="1">
                <a:solidFill>
                  <a:schemeClr val="bg1">
                    <a:lumMod val="95000"/>
                  </a:schemeClr>
                </a:solidFill>
              </a:rPr>
              <a:t>mês</a:t>
            </a: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 com ações H1</a:t>
            </a:r>
          </a:p>
        </p:txBody>
      </p:sp>
      <p:sp>
        <p:nvSpPr>
          <p:cNvPr id="272" name="Shape 270"/>
          <p:cNvSpPr/>
          <p:nvPr/>
        </p:nvSpPr>
        <p:spPr>
          <a:xfrm>
            <a:off x="7571232" y="12907629"/>
            <a:ext cx="1170432" cy="475488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3" name="Text 271"/>
          <p:cNvSpPr/>
          <p:nvPr/>
        </p:nvSpPr>
        <p:spPr>
          <a:xfrm>
            <a:off x="7571232" y="12907629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H1</a:t>
            </a:r>
            <a:endParaRPr lang="en-US" sz="850" dirty="0"/>
          </a:p>
          <a:p>
            <a:pPr algn="ctr">
              <a:lnSpc>
                <a:spcPct val="120000"/>
              </a:lnSpc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imediatamente</a:t>
            </a:r>
            <a:endParaRPr lang="en-US" sz="850" dirty="0"/>
          </a:p>
        </p:txBody>
      </p:sp>
      <p:sp>
        <p:nvSpPr>
          <p:cNvPr id="274" name="Shape 272"/>
          <p:cNvSpPr/>
          <p:nvPr/>
        </p:nvSpPr>
        <p:spPr>
          <a:xfrm>
            <a:off x="0" y="13783412"/>
            <a:ext cx="9144000" cy="256032"/>
          </a:xfrm>
          <a:prstGeom prst="rect">
            <a:avLst/>
          </a:prstGeom>
          <a:solidFill>
            <a:srgbClr val="283FFE"/>
          </a:solidFill>
          <a:ln w="12700">
            <a:noFill/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182880" y="1378341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dirty="0">
                <a:solidFill>
                  <a:schemeClr val="bg1"/>
                </a:solidFill>
              </a:rPr>
              <a:t>Diretoria de Tecnologia  ·  Score multicritério: performance (×2) + erro (×2) + maturidade (×1,5) + custo (×1,5)  ·  25 APIs  ·  Abril 2026</a:t>
            </a:r>
          </a:p>
        </p:txBody>
      </p:sp>
      <p:sp>
        <p:nvSpPr>
          <p:cNvPr id="276" name="Text 274"/>
          <p:cNvSpPr/>
          <p:nvPr/>
        </p:nvSpPr>
        <p:spPr>
          <a:xfrm>
            <a:off x="6858000" y="137834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750" b="1" kern="0" spc="50" dirty="0">
                <a:solidFill>
                  <a:srgbClr val="F36203"/>
                </a:solidFill>
              </a:rPr>
              <a:t>API HEALTH INTELLIGENCE PLATFORM</a:t>
            </a:r>
            <a:endParaRPr lang="en-US" sz="750" dirty="0">
              <a:solidFill>
                <a:srgbClr val="F36203"/>
              </a:solidFill>
            </a:endParaRPr>
          </a:p>
        </p:txBody>
      </p:sp>
      <p:pic>
        <p:nvPicPr>
          <p:cNvPr id="1028" name="Picture 4" descr="O Itaú é feito de futuro">
            <a:extLst>
              <a:ext uri="{FF2B5EF4-FFF2-40B4-BE49-F238E27FC236}">
                <a16:creationId xmlns:a16="http://schemas.microsoft.com/office/drawing/2014/main" id="{74AB5A51-5EA6-8309-BB64-44FB7F79E2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33" t="6009" r="24088" b="6320"/>
          <a:stretch>
            <a:fillRect/>
          </a:stretch>
        </p:blipFill>
        <p:spPr bwMode="auto">
          <a:xfrm>
            <a:off x="8544176" y="69292"/>
            <a:ext cx="436704" cy="4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Shape 11">
            <a:extLst>
              <a:ext uri="{FF2B5EF4-FFF2-40B4-BE49-F238E27FC236}">
                <a16:creationId xmlns:a16="http://schemas.microsoft.com/office/drawing/2014/main" id="{62674BFD-1EB4-BC38-5904-79B8D03613F9}"/>
              </a:ext>
            </a:extLst>
          </p:cNvPr>
          <p:cNvSpPr/>
          <p:nvPr/>
        </p:nvSpPr>
        <p:spPr>
          <a:xfrm>
            <a:off x="2407158" y="1847729"/>
            <a:ext cx="2123694" cy="36576"/>
          </a:xfrm>
          <a:prstGeom prst="roundRect">
            <a:avLst/>
          </a:prstGeom>
          <a:solidFill>
            <a:srgbClr val="C1392A"/>
          </a:solidFill>
          <a:ln w="12700">
            <a:noFill/>
            <a:prstDash val="solid"/>
          </a:ln>
        </p:spPr>
      </p:sp>
      <p:sp>
        <p:nvSpPr>
          <p:cNvPr id="1031" name="Shape 11">
            <a:extLst>
              <a:ext uri="{FF2B5EF4-FFF2-40B4-BE49-F238E27FC236}">
                <a16:creationId xmlns:a16="http://schemas.microsoft.com/office/drawing/2014/main" id="{7A6DB1AD-D8A7-09F4-AD99-6060B57A8491}"/>
              </a:ext>
            </a:extLst>
          </p:cNvPr>
          <p:cNvSpPr/>
          <p:nvPr/>
        </p:nvSpPr>
        <p:spPr>
          <a:xfrm>
            <a:off x="4613148" y="1847729"/>
            <a:ext cx="2123694" cy="36576"/>
          </a:xfrm>
          <a:prstGeom prst="roundRect">
            <a:avLst/>
          </a:prstGeom>
          <a:solidFill>
            <a:srgbClr val="245EA8"/>
          </a:solidFill>
          <a:ln w="12700">
            <a:noFill/>
            <a:prstDash val="solid"/>
          </a:ln>
        </p:spPr>
      </p:sp>
      <p:sp>
        <p:nvSpPr>
          <p:cNvPr id="1032" name="Shape 11">
            <a:extLst>
              <a:ext uri="{FF2B5EF4-FFF2-40B4-BE49-F238E27FC236}">
                <a16:creationId xmlns:a16="http://schemas.microsoft.com/office/drawing/2014/main" id="{B6C49403-AE95-08EA-0C4C-5216C6BCC695}"/>
              </a:ext>
            </a:extLst>
          </p:cNvPr>
          <p:cNvSpPr/>
          <p:nvPr/>
        </p:nvSpPr>
        <p:spPr>
          <a:xfrm>
            <a:off x="6819138" y="1847729"/>
            <a:ext cx="2123694" cy="36576"/>
          </a:xfrm>
          <a:prstGeom prst="roundRect">
            <a:avLst/>
          </a:prstGeom>
          <a:solidFill>
            <a:srgbClr val="19192E"/>
          </a:solidFill>
          <a:ln w="12700">
            <a:noFill/>
            <a:prstDash val="solid"/>
          </a:ln>
        </p:spPr>
      </p:sp>
      <p:sp>
        <p:nvSpPr>
          <p:cNvPr id="1035" name="Shape 30">
            <a:extLst>
              <a:ext uri="{FF2B5EF4-FFF2-40B4-BE49-F238E27FC236}">
                <a16:creationId xmlns:a16="http://schemas.microsoft.com/office/drawing/2014/main" id="{45FDE0A5-FE4F-0C7D-96F6-BD31A918046F}"/>
              </a:ext>
            </a:extLst>
          </p:cNvPr>
          <p:cNvSpPr/>
          <p:nvPr/>
        </p:nvSpPr>
        <p:spPr>
          <a:xfrm>
            <a:off x="4613148" y="5110160"/>
            <a:ext cx="45720" cy="201168"/>
          </a:xfrm>
          <a:prstGeom prst="rect">
            <a:avLst/>
          </a:prstGeom>
          <a:solidFill>
            <a:srgbClr val="F36203"/>
          </a:solidFill>
          <a:ln w="12700">
            <a:noFill/>
            <a:prstDash val="solid"/>
          </a:ln>
        </p:spPr>
      </p:sp>
      <p:sp>
        <p:nvSpPr>
          <p:cNvPr id="1036" name="Text 31">
            <a:extLst>
              <a:ext uri="{FF2B5EF4-FFF2-40B4-BE49-F238E27FC236}">
                <a16:creationId xmlns:a16="http://schemas.microsoft.com/office/drawing/2014/main" id="{BB0B0C02-CAB7-83FE-1C3B-BD1E9BF8D8F1}"/>
              </a:ext>
            </a:extLst>
          </p:cNvPr>
          <p:cNvSpPr/>
          <p:nvPr/>
        </p:nvSpPr>
        <p:spPr>
          <a:xfrm>
            <a:off x="4704591" y="5110160"/>
            <a:ext cx="362904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kern="0" spc="200" dirty="0">
                <a:solidFill>
                  <a:srgbClr val="F36203"/>
                </a:solidFill>
              </a:rPr>
              <a:t>SIMULAÇÃO DE GANHOS E POTENCIAL DE RECUPERAÇÃO</a:t>
            </a:r>
            <a:endParaRPr lang="en-US" sz="750" dirty="0">
              <a:solidFill>
                <a:srgbClr val="F36203"/>
              </a:solidFill>
            </a:endParaRPr>
          </a:p>
        </p:txBody>
      </p:sp>
      <p:grpSp>
        <p:nvGrpSpPr>
          <p:cNvPr id="1047" name="Agrupar 1046">
            <a:extLst>
              <a:ext uri="{FF2B5EF4-FFF2-40B4-BE49-F238E27FC236}">
                <a16:creationId xmlns:a16="http://schemas.microsoft.com/office/drawing/2014/main" id="{C978B93C-C2D5-0C55-D627-707B8121371A}"/>
              </a:ext>
            </a:extLst>
          </p:cNvPr>
          <p:cNvGrpSpPr/>
          <p:nvPr/>
        </p:nvGrpSpPr>
        <p:grpSpPr>
          <a:xfrm>
            <a:off x="6455808" y="11134964"/>
            <a:ext cx="1152000" cy="147600"/>
            <a:chOff x="1499760" y="11513857"/>
            <a:chExt cx="1152000" cy="147600"/>
          </a:xfrm>
        </p:grpSpPr>
        <p:sp>
          <p:nvSpPr>
            <p:cNvPr id="1038" name="Shape 230">
              <a:extLst>
                <a:ext uri="{FF2B5EF4-FFF2-40B4-BE49-F238E27FC236}">
                  <a16:creationId xmlns:a16="http://schemas.microsoft.com/office/drawing/2014/main" id="{3B55C20F-4E9D-7166-358A-A189C10F9949}"/>
                </a:ext>
              </a:extLst>
            </p:cNvPr>
            <p:cNvSpPr/>
            <p:nvPr/>
          </p:nvSpPr>
          <p:spPr>
            <a:xfrm>
              <a:off x="1499761" y="11513857"/>
              <a:ext cx="1150304" cy="147600"/>
            </a:xfrm>
            <a:prstGeom prst="roundRect">
              <a:avLst/>
            </a:prstGeom>
            <a:solidFill>
              <a:srgbClr val="EAF5EE"/>
            </a:solidFill>
            <a:ln w="5080">
              <a:noFill/>
              <a:prstDash val="solid"/>
            </a:ln>
          </p:spPr>
        </p:sp>
        <p:sp>
          <p:nvSpPr>
            <p:cNvPr id="1039" name="Text 231">
              <a:extLst>
                <a:ext uri="{FF2B5EF4-FFF2-40B4-BE49-F238E27FC236}">
                  <a16:creationId xmlns:a16="http://schemas.microsoft.com/office/drawing/2014/main" id="{7FE60119-F88F-47A0-BB73-ADB679C949A2}"/>
                </a:ext>
              </a:extLst>
            </p:cNvPr>
            <p:cNvSpPr/>
            <p:nvPr/>
          </p:nvSpPr>
          <p:spPr>
            <a:xfrm>
              <a:off x="1499760" y="11513857"/>
              <a:ext cx="1152000" cy="144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750" b="1" dirty="0">
                  <a:solidFill>
                    <a:srgbClr val="1A6B3A"/>
                  </a:solidFill>
                </a:rPr>
                <a:t>KPI: 0 APIs </a:t>
              </a:r>
              <a:r>
                <a:rPr lang="en-US" sz="750" b="1" dirty="0" err="1">
                  <a:solidFill>
                    <a:srgbClr val="1A6B3A"/>
                  </a:solidFill>
                </a:rPr>
                <a:t>em</a:t>
              </a:r>
              <a:r>
                <a:rPr lang="en-US" sz="750" b="1" dirty="0">
                  <a:solidFill>
                    <a:srgbClr val="1A6B3A"/>
                  </a:solidFill>
                </a:rPr>
                <a:t> CRÍTICO</a:t>
              </a:r>
              <a:endParaRPr lang="en-US" sz="750" dirty="0"/>
            </a:p>
          </p:txBody>
        </p:sp>
      </p:grpSp>
      <p:grpSp>
        <p:nvGrpSpPr>
          <p:cNvPr id="1048" name="Agrupar 1047">
            <a:extLst>
              <a:ext uri="{FF2B5EF4-FFF2-40B4-BE49-F238E27FC236}">
                <a16:creationId xmlns:a16="http://schemas.microsoft.com/office/drawing/2014/main" id="{946F59C5-678C-C1F4-E4B8-0235DCFE9748}"/>
              </a:ext>
            </a:extLst>
          </p:cNvPr>
          <p:cNvGrpSpPr/>
          <p:nvPr/>
        </p:nvGrpSpPr>
        <p:grpSpPr>
          <a:xfrm>
            <a:off x="6466334" y="12384118"/>
            <a:ext cx="1344169" cy="147600"/>
            <a:chOff x="3227832" y="11513857"/>
            <a:chExt cx="1344169" cy="147600"/>
          </a:xfrm>
        </p:grpSpPr>
        <p:sp>
          <p:nvSpPr>
            <p:cNvPr id="1040" name="Shape 230">
              <a:extLst>
                <a:ext uri="{FF2B5EF4-FFF2-40B4-BE49-F238E27FC236}">
                  <a16:creationId xmlns:a16="http://schemas.microsoft.com/office/drawing/2014/main" id="{75597FF5-9D73-B00D-29EA-2F867C046DB2}"/>
                </a:ext>
              </a:extLst>
            </p:cNvPr>
            <p:cNvSpPr/>
            <p:nvPr/>
          </p:nvSpPr>
          <p:spPr>
            <a:xfrm>
              <a:off x="3227833" y="11513857"/>
              <a:ext cx="1344168" cy="147600"/>
            </a:xfrm>
            <a:prstGeom prst="roundRect">
              <a:avLst/>
            </a:prstGeom>
            <a:solidFill>
              <a:srgbClr val="EAF5EE"/>
            </a:solidFill>
            <a:ln w="5080">
              <a:noFill/>
              <a:prstDash val="solid"/>
            </a:ln>
          </p:spPr>
        </p:sp>
        <p:sp>
          <p:nvSpPr>
            <p:cNvPr id="1041" name="Text 231">
              <a:extLst>
                <a:ext uri="{FF2B5EF4-FFF2-40B4-BE49-F238E27FC236}">
                  <a16:creationId xmlns:a16="http://schemas.microsoft.com/office/drawing/2014/main" id="{F8CCE365-A46D-2218-9FA8-F5AFBFC3B833}"/>
                </a:ext>
              </a:extLst>
            </p:cNvPr>
            <p:cNvSpPr/>
            <p:nvPr/>
          </p:nvSpPr>
          <p:spPr>
            <a:xfrm>
              <a:off x="3227832" y="11513857"/>
              <a:ext cx="1344168" cy="144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750" b="1" dirty="0">
                  <a:solidFill>
                    <a:srgbClr val="1A6B3A"/>
                  </a:solidFill>
                </a:rPr>
                <a:t>KPI: ≥ 80% APIs </a:t>
              </a:r>
              <a:r>
                <a:rPr lang="en-US" sz="750" b="1" dirty="0" err="1">
                  <a:solidFill>
                    <a:srgbClr val="1A6B3A"/>
                  </a:solidFill>
                </a:rPr>
                <a:t>em</a:t>
              </a:r>
              <a:r>
                <a:rPr lang="en-US" sz="750" b="1" dirty="0">
                  <a:solidFill>
                    <a:srgbClr val="1A6B3A"/>
                  </a:solidFill>
                </a:rPr>
                <a:t> NORMAL </a:t>
              </a:r>
              <a:endParaRPr lang="en-US" sz="750" dirty="0"/>
            </a:p>
          </p:txBody>
        </p:sp>
      </p:grpSp>
      <p:sp>
        <p:nvSpPr>
          <p:cNvPr id="1043" name="CaixaDeTexto 1042">
            <a:extLst>
              <a:ext uri="{FF2B5EF4-FFF2-40B4-BE49-F238E27FC236}">
                <a16:creationId xmlns:a16="http://schemas.microsoft.com/office/drawing/2014/main" id="{426A4890-9D23-BBC4-EEF4-ABA9B784AD3F}"/>
              </a:ext>
            </a:extLst>
          </p:cNvPr>
          <p:cNvSpPr txBox="1"/>
          <p:nvPr/>
        </p:nvSpPr>
        <p:spPr>
          <a:xfrm>
            <a:off x="6292694" y="8970958"/>
            <a:ext cx="297293" cy="2000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>
                <a:solidFill>
                  <a:schemeClr val="bg1"/>
                </a:solidFill>
              </a:rPr>
              <a:t>H1</a:t>
            </a:r>
          </a:p>
        </p:txBody>
      </p:sp>
      <p:sp>
        <p:nvSpPr>
          <p:cNvPr id="1044" name="CaixaDeTexto 1043">
            <a:extLst>
              <a:ext uri="{FF2B5EF4-FFF2-40B4-BE49-F238E27FC236}">
                <a16:creationId xmlns:a16="http://schemas.microsoft.com/office/drawing/2014/main" id="{C48CD4A6-C991-13BA-FE50-ECB8100164A2}"/>
              </a:ext>
            </a:extLst>
          </p:cNvPr>
          <p:cNvSpPr txBox="1"/>
          <p:nvPr/>
        </p:nvSpPr>
        <p:spPr>
          <a:xfrm>
            <a:off x="6287438" y="10205517"/>
            <a:ext cx="297293" cy="2000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>
                <a:solidFill>
                  <a:schemeClr val="bg1"/>
                </a:solidFill>
              </a:rPr>
              <a:t>H2</a:t>
            </a:r>
          </a:p>
        </p:txBody>
      </p:sp>
      <p:sp>
        <p:nvSpPr>
          <p:cNvPr id="1045" name="CaixaDeTexto 1044">
            <a:extLst>
              <a:ext uri="{FF2B5EF4-FFF2-40B4-BE49-F238E27FC236}">
                <a16:creationId xmlns:a16="http://schemas.microsoft.com/office/drawing/2014/main" id="{78D52671-4878-9FDE-9F2F-7302733D7C8A}"/>
              </a:ext>
            </a:extLst>
          </p:cNvPr>
          <p:cNvSpPr txBox="1"/>
          <p:nvPr/>
        </p:nvSpPr>
        <p:spPr>
          <a:xfrm>
            <a:off x="6286687" y="11444163"/>
            <a:ext cx="297293" cy="2000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>
                <a:solidFill>
                  <a:schemeClr val="bg1"/>
                </a:solidFill>
              </a:rPr>
              <a:t>H3</a:t>
            </a:r>
          </a:p>
        </p:txBody>
      </p:sp>
      <p:sp>
        <p:nvSpPr>
          <p:cNvPr id="1049" name="Text 80">
            <a:extLst>
              <a:ext uri="{FF2B5EF4-FFF2-40B4-BE49-F238E27FC236}">
                <a16:creationId xmlns:a16="http://schemas.microsoft.com/office/drawing/2014/main" id="{1137428D-5D47-3727-FECF-32C1903FD381}"/>
              </a:ext>
            </a:extLst>
          </p:cNvPr>
          <p:cNvSpPr/>
          <p:nvPr/>
        </p:nvSpPr>
        <p:spPr>
          <a:xfrm>
            <a:off x="2361642" y="3481695"/>
            <a:ext cx="365845" cy="102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" b="1" dirty="0">
                <a:solidFill>
                  <a:srgbClr val="EC7000"/>
                </a:solidFill>
              </a:rPr>
              <a:t>5,75</a:t>
            </a:r>
            <a:endParaRPr lang="en-US" sz="600" b="1" dirty="0"/>
          </a:p>
        </p:txBody>
      </p:sp>
      <p:sp>
        <p:nvSpPr>
          <p:cNvPr id="1050" name="Text 80">
            <a:extLst>
              <a:ext uri="{FF2B5EF4-FFF2-40B4-BE49-F238E27FC236}">
                <a16:creationId xmlns:a16="http://schemas.microsoft.com/office/drawing/2014/main" id="{E7868A8F-44B6-A804-8CF3-3189B97A8E46}"/>
              </a:ext>
            </a:extLst>
          </p:cNvPr>
          <p:cNvSpPr/>
          <p:nvPr/>
        </p:nvSpPr>
        <p:spPr>
          <a:xfrm>
            <a:off x="2361642" y="3750363"/>
            <a:ext cx="365845" cy="102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" b="1" dirty="0">
                <a:solidFill>
                  <a:srgbClr val="EC7000"/>
                </a:solidFill>
              </a:rPr>
              <a:t>5,30</a:t>
            </a:r>
            <a:endParaRPr lang="en-US" sz="600" b="1" dirty="0"/>
          </a:p>
        </p:txBody>
      </p:sp>
      <p:sp>
        <p:nvSpPr>
          <p:cNvPr id="1051" name="Text 80">
            <a:extLst>
              <a:ext uri="{FF2B5EF4-FFF2-40B4-BE49-F238E27FC236}">
                <a16:creationId xmlns:a16="http://schemas.microsoft.com/office/drawing/2014/main" id="{DF332168-8E80-6B2D-96F4-31CCA95B19A6}"/>
              </a:ext>
            </a:extLst>
          </p:cNvPr>
          <p:cNvSpPr/>
          <p:nvPr/>
        </p:nvSpPr>
        <p:spPr>
          <a:xfrm>
            <a:off x="2361642" y="4030093"/>
            <a:ext cx="365845" cy="102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" b="1" dirty="0">
                <a:solidFill>
                  <a:srgbClr val="EC7000"/>
                </a:solidFill>
              </a:rPr>
              <a:t>5,25</a:t>
            </a:r>
            <a:endParaRPr lang="en-US" sz="600" b="1" dirty="0"/>
          </a:p>
        </p:txBody>
      </p:sp>
      <p:sp>
        <p:nvSpPr>
          <p:cNvPr id="1052" name="Text 80">
            <a:extLst>
              <a:ext uri="{FF2B5EF4-FFF2-40B4-BE49-F238E27FC236}">
                <a16:creationId xmlns:a16="http://schemas.microsoft.com/office/drawing/2014/main" id="{56EC4602-EA4F-25DB-37CB-C6168F4E7C8C}"/>
              </a:ext>
            </a:extLst>
          </p:cNvPr>
          <p:cNvSpPr/>
          <p:nvPr/>
        </p:nvSpPr>
        <p:spPr>
          <a:xfrm>
            <a:off x="2361642" y="4302235"/>
            <a:ext cx="365845" cy="102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" b="1" dirty="0">
                <a:solidFill>
                  <a:srgbClr val="EC7000"/>
                </a:solidFill>
              </a:rPr>
              <a:t>4,75</a:t>
            </a:r>
            <a:endParaRPr lang="en-US" sz="600" b="1" dirty="0"/>
          </a:p>
        </p:txBody>
      </p:sp>
      <p:sp>
        <p:nvSpPr>
          <p:cNvPr id="1053" name="Text 50">
            <a:extLst>
              <a:ext uri="{FF2B5EF4-FFF2-40B4-BE49-F238E27FC236}">
                <a16:creationId xmlns:a16="http://schemas.microsoft.com/office/drawing/2014/main" id="{D0BE4928-1A6D-3BAB-21FB-15E7D70A01B0}"/>
              </a:ext>
            </a:extLst>
          </p:cNvPr>
          <p:cNvSpPr/>
          <p:nvPr/>
        </p:nvSpPr>
        <p:spPr>
          <a:xfrm>
            <a:off x="2361642" y="2914668"/>
            <a:ext cx="36584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" b="1" dirty="0">
                <a:solidFill>
                  <a:srgbClr val="C0392B"/>
                </a:solidFill>
              </a:rPr>
              <a:t>6,00</a:t>
            </a:r>
            <a:endParaRPr lang="en-US" sz="600" b="1" dirty="0"/>
          </a:p>
        </p:txBody>
      </p:sp>
      <p:grpSp>
        <p:nvGrpSpPr>
          <p:cNvPr id="1056" name="Agrupar 1055">
            <a:extLst>
              <a:ext uri="{FF2B5EF4-FFF2-40B4-BE49-F238E27FC236}">
                <a16:creationId xmlns:a16="http://schemas.microsoft.com/office/drawing/2014/main" id="{77BB4AD2-6D03-B9DD-CF0F-B27B220FA4F2}"/>
              </a:ext>
            </a:extLst>
          </p:cNvPr>
          <p:cNvGrpSpPr/>
          <p:nvPr/>
        </p:nvGrpSpPr>
        <p:grpSpPr>
          <a:xfrm>
            <a:off x="1388581" y="3440498"/>
            <a:ext cx="368373" cy="184666"/>
            <a:chOff x="1168036" y="4911073"/>
            <a:chExt cx="368373" cy="184666"/>
          </a:xfrm>
        </p:grpSpPr>
        <p:sp>
          <p:nvSpPr>
            <p:cNvPr id="1054" name="Shape 76">
              <a:extLst>
                <a:ext uri="{FF2B5EF4-FFF2-40B4-BE49-F238E27FC236}">
                  <a16:creationId xmlns:a16="http://schemas.microsoft.com/office/drawing/2014/main" id="{4962513C-68D7-9940-1CE1-8AD69CDDF1F3}"/>
                </a:ext>
              </a:extLst>
            </p:cNvPr>
            <p:cNvSpPr/>
            <p:nvPr/>
          </p:nvSpPr>
          <p:spPr>
            <a:xfrm>
              <a:off x="1224206" y="4930254"/>
              <a:ext cx="256032" cy="146304"/>
            </a:xfrm>
            <a:prstGeom prst="roundRect">
              <a:avLst/>
            </a:prstGeom>
            <a:solidFill>
              <a:srgbClr val="E8F0FA"/>
            </a:solidFill>
            <a:ln w="5080">
              <a:noFill/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055" name="CaixaDeTexto 1054">
              <a:extLst>
                <a:ext uri="{FF2B5EF4-FFF2-40B4-BE49-F238E27FC236}">
                  <a16:creationId xmlns:a16="http://schemas.microsoft.com/office/drawing/2014/main" id="{F94462CC-4B53-F918-38B1-C01638C8739C}"/>
                </a:ext>
              </a:extLst>
            </p:cNvPr>
            <p:cNvSpPr txBox="1"/>
            <p:nvPr/>
          </p:nvSpPr>
          <p:spPr>
            <a:xfrm>
              <a:off x="1168036" y="4911073"/>
              <a:ext cx="368373" cy="1846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BR" sz="600" dirty="0">
                  <a:solidFill>
                    <a:srgbClr val="163D7D"/>
                  </a:solidFill>
                </a:rPr>
                <a:t>EXT</a:t>
              </a:r>
            </a:p>
          </p:txBody>
        </p:sp>
      </p:grpSp>
      <p:grpSp>
        <p:nvGrpSpPr>
          <p:cNvPr id="1057" name="Agrupar 1056">
            <a:extLst>
              <a:ext uri="{FF2B5EF4-FFF2-40B4-BE49-F238E27FC236}">
                <a16:creationId xmlns:a16="http://schemas.microsoft.com/office/drawing/2014/main" id="{E0EAA43C-88A5-3EB5-872B-CD9580C05504}"/>
              </a:ext>
            </a:extLst>
          </p:cNvPr>
          <p:cNvGrpSpPr/>
          <p:nvPr/>
        </p:nvGrpSpPr>
        <p:grpSpPr>
          <a:xfrm>
            <a:off x="1388581" y="3714818"/>
            <a:ext cx="368373" cy="184666"/>
            <a:chOff x="1168036" y="4911073"/>
            <a:chExt cx="368373" cy="184666"/>
          </a:xfrm>
        </p:grpSpPr>
        <p:sp>
          <p:nvSpPr>
            <p:cNvPr id="1058" name="Shape 76">
              <a:extLst>
                <a:ext uri="{FF2B5EF4-FFF2-40B4-BE49-F238E27FC236}">
                  <a16:creationId xmlns:a16="http://schemas.microsoft.com/office/drawing/2014/main" id="{6129583E-D6BC-D783-D8E5-BAEA44A9F54A}"/>
                </a:ext>
              </a:extLst>
            </p:cNvPr>
            <p:cNvSpPr/>
            <p:nvPr/>
          </p:nvSpPr>
          <p:spPr>
            <a:xfrm>
              <a:off x="1224206" y="4930254"/>
              <a:ext cx="256032" cy="146304"/>
            </a:xfrm>
            <a:prstGeom prst="roundRect">
              <a:avLst/>
            </a:prstGeom>
            <a:solidFill>
              <a:srgbClr val="E8F0FA"/>
            </a:solidFill>
            <a:ln w="5080">
              <a:noFill/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059" name="CaixaDeTexto 1058">
              <a:extLst>
                <a:ext uri="{FF2B5EF4-FFF2-40B4-BE49-F238E27FC236}">
                  <a16:creationId xmlns:a16="http://schemas.microsoft.com/office/drawing/2014/main" id="{2FFEDDC0-96C5-B7D2-B060-E528470A8971}"/>
                </a:ext>
              </a:extLst>
            </p:cNvPr>
            <p:cNvSpPr txBox="1"/>
            <p:nvPr/>
          </p:nvSpPr>
          <p:spPr>
            <a:xfrm>
              <a:off x="1168036" y="4911073"/>
              <a:ext cx="368373" cy="1846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BR" sz="600" dirty="0">
                  <a:solidFill>
                    <a:srgbClr val="163D7D"/>
                  </a:solidFill>
                </a:rPr>
                <a:t>EXT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469</TotalTime>
  <Words>987</Words>
  <Application>Microsoft Macintosh PowerPoint</Application>
  <PresentationFormat>Personalizar</PresentationFormat>
  <Paragraphs>169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Health Intelligence Platform — One-Pager Itaú</dc:title>
  <dc:subject>PptxGenJS Presentation</dc:subject>
  <dc:creator>PptxGenJS</dc:creator>
  <cp:lastModifiedBy>Gabriel F Silva</cp:lastModifiedBy>
  <cp:revision>2</cp:revision>
  <cp:lastPrinted>2026-04-26T14:59:37Z</cp:lastPrinted>
  <dcterms:created xsi:type="dcterms:W3CDTF">2026-04-26T13:01:54Z</dcterms:created>
  <dcterms:modified xsi:type="dcterms:W3CDTF">2026-04-26T20:53:25Z</dcterms:modified>
</cp:coreProperties>
</file>