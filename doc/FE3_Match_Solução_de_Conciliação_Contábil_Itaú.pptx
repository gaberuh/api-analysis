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Bom dia a todos. Estamos aqui para apresentar o FE3 Match, a nossa resposta para um desafio crítico na governança contábil do Itaú. Este sistema é a nossa aposta para unificar e padronizar a conciliação contábil em todo o banco. Ele é uma solução analítica, padronizada e totalmente auditável. Vamos entender o cenário atual e a urgência dessa transformação.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Hoje, operamos com mais de 1.200 soluções de conciliação, um ecossistema fragmentado que processa 1,2 bilhão de registros contábeis por dia. Isso não é ineficiência operacional; é um risco de governança. Temos 1.200 pontos cegos, com ETLs Alteryx personalizados, automações sem padrão e centenas de arquivos Excel. Essa falta de padronização e auditabilidade centralizada nos expõe a riscos inaceitáveis. Precisamos de uma solução que traga clareza e controle. E é exatamente isso que o FE3 Match entrega.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FE3 Match é a nossa solução única de conciliação contábil. Ele compara bases analiticamente, gera diferenças rastreáveis e entrega resultados auditáveis para qualquer produto. É crucial entender o que ele faz e o que não faz. Ele não extrai dados, não gerencia pendências, não contabiliza e não substitui roteirizadores. Essa clareza de escopo é o que garante sua escalabilidade para todo o portfólio do banco. Ele se integra ao fluxo de valor, recebendo dados dos roteirizadores e entregando a conciliação final. Agora, vamos ver a escala dessa solução.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escala do FE3 Match é impressionante. Nosso motor processa 1,2 bilhão de registros contábeis por dia. Ele vem para substituir gradualmente mais de 1.200 soluções legadas e fragmentadas. Já conciliamos 500 contas e temos uma meta comprometida de 6.300 contas até R2/2026. O horizonte total de cobertura é de 200 mil contas contábeis. Isso demonstra a capacidade e o potencial de transformação que o FE3 Match traz para o Itaú. E vamos ver como isso se traduz em resultados reais.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Agora, vamos ver como o FE3 Match se traduz em resultados reais, ancorando a credibilidade que discutimos. Estes casos do PIX e TVM demonstram a capacidade do sistema de transformar desafios operacionais em ganhos de governança e eficiência. No PIX, a identificação de diferenças passou de dias para horas, com uma trilha de auditoria completa e sem depender de conhecimento tribal. Isso significa que o analista atua na causa raiz, não na operacionalização da comparação manual. Já no TVM, eliminamos o Excel, apresentando as diferenças lado a lado e tornando os GAPs de produto visíveis e acionáveis. Lançamentos manuais agora são sinalizadores de incompletude, não soluções operacionais. Esses exemplos mostram que o FE3 Match não é apenas uma ferramenta, mas um catalisador para a melhoria contínua. E essa trajetória de sucesso nos leva ao nosso próximo ponto.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base nesses sucessos, nossa trajetória é clara: transformar o FE3 Match no padrão do banco. Começamos com uma arquitetura técnica robusta e integrações validadas, que foram a fundação. Hoje, já temos 500 contas conciliadas, com produtos críticos como PIX e TVM em produção. Nosso compromisso para R2 de 2026 é ambicioso: expandir para 6.300 contas e iniciar o descomissionamento de sistemas legados. O horizonte é ainda maior, com 200 mil contas cobertas e o FE3 Match como padrão obrigatório para novos produtos. Essa evolução não é apenas um plano, é uma garantia de escala e padronização para todo o banco. E essa visão de futuro impacta diretamente o trabalho de vocês.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FE3 Match já está operando no seu portfólio, e a expansão para 6.300 contas em R2 abrange diretamente as áreas de finanças e governança que vocês supervisionam. Isso representa uma resposta estrutural ao risco de soluções não padronizadas, garantindo auditabilidade plena a cada migração. Em termos de eficiência, a redução drástica de lançamentos manuais permite que seus times de POF foquem em análise, não em operação. E, finalmente, o FE3 Match moderniza a contabilidade, integrando-se nativamente à nova arquitetura e preparando as contas para o futuro sem gaps ocultos. Queremos que conheçam o produto, confiem na direção e nos sinalizem onde estão as maiores 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1454451"/>
            <a:ext cx="8572500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1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FE3 Match</a:t>
            </a:r>
            <a:endParaRPr lang="en-US" sz="4150" dirty="0"/>
          </a:p>
        </p:txBody>
      </p:sp>
      <p:sp>
        <p:nvSpPr>
          <p:cNvPr id="5" name="Text 1"/>
          <p:cNvSpPr/>
          <p:nvPr/>
        </p:nvSpPr>
        <p:spPr>
          <a:xfrm>
            <a:off x="571500" y="2225976"/>
            <a:ext cx="3714750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 único de conciliação contábil: analítico e auditável.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571500" y="3151761"/>
            <a:ext cx="8572500" cy="298252"/>
          </a:xfrm>
          <a:prstGeom prst="rect">
            <a:avLst/>
          </a:prstGeom>
          <a:noFill/>
          <a:ln/>
        </p:spPr>
        <p:txBody>
          <a:bodyPr wrap="square" lIns="0" tIns="0" rIns="0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Squad Conciliação Contábil |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7143750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 Itaú opera hoje com mais de 1.200 soluções de conciliação. Nenhuma delas se fala.</a:t>
            </a:r>
            <a:endParaRPr lang="en-US" sz="1800" dirty="0"/>
          </a:p>
        </p:txBody>
      </p:sp>
      <p:sp>
        <p:nvSpPr>
          <p:cNvPr id="5" name="Text 1"/>
          <p:cNvSpPr/>
          <p:nvPr/>
        </p:nvSpPr>
        <p:spPr>
          <a:xfrm>
            <a:off x="571500" y="1368028"/>
            <a:ext cx="1805583" cy="869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5E2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1,2 bi</a:t>
            </a:r>
            <a:endParaRPr lang="en-US" sz="5200" dirty="0"/>
          </a:p>
        </p:txBody>
      </p:sp>
      <p:sp>
        <p:nvSpPr>
          <p:cNvPr id="6" name="Text 2"/>
          <p:cNvSpPr/>
          <p:nvPr/>
        </p:nvSpPr>
        <p:spPr>
          <a:xfrm>
            <a:off x="2591395" y="1560016"/>
            <a:ext cx="42862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 registros contábeis processados por dia através de um ecossistema fragmentado.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509242"/>
            <a:ext cx="285750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00125" y="2452092"/>
            <a:ext cx="33575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1.200+ ETLs Alteryx</a:t>
            </a: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personalizados, cada um </a:t>
            </a: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suas próprias regras e sem padrão.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438" y="2509242"/>
            <a:ext cx="285750" cy="2286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072063" y="2452092"/>
            <a:ext cx="33575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3 automações sustentadas</a:t>
            </a: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sem padrão comum </a:t>
            </a: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governança.</a:t>
            </a:r>
            <a:endParaRPr lang="en-US" sz="10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01" y="3223617"/>
            <a:ext cx="228600" cy="2286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70406" y="3166467"/>
            <a:ext cx="338728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Solução legada (FE3)</a:t>
            </a: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 escopo limitado e </a:t>
            </a: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tecnologia ultrapassada.</a:t>
            </a:r>
            <a:endParaRPr lang="en-US" sz="10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1231" y="3223617"/>
            <a:ext cx="171450" cy="2286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5013378" y="3166467"/>
            <a:ext cx="341624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Centenas de arquivos Excel</a:t>
            </a: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sem rastreabilidade </a:t>
            </a: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 auditabilidade centralizada.</a:t>
            </a:r>
            <a:endParaRPr lang="en-US" sz="1000" dirty="0"/>
          </a:p>
        </p:txBody>
      </p:sp>
      <p:sp>
        <p:nvSpPr>
          <p:cNvPr id="15" name="Text 7"/>
          <p:cNvSpPr/>
          <p:nvPr/>
        </p:nvSpPr>
        <p:spPr>
          <a:xfrm>
            <a:off x="842963" y="4109442"/>
            <a:ext cx="6429375" cy="567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"Isso não é ineficiência operacional. É risco de governança. 1.200 ETLs personalizados significam 1.200 pontos cegos que nenhum auditor consegue enxergar."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572500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FE3 Match: o sistema único de conciliação contábil do Itaú</a:t>
            </a:r>
            <a:endParaRPr lang="en-US" sz="1800" dirty="0"/>
          </a:p>
        </p:txBody>
      </p:sp>
      <p:sp>
        <p:nvSpPr>
          <p:cNvPr id="5" name="Text 1"/>
          <p:cNvSpPr/>
          <p:nvPr/>
        </p:nvSpPr>
        <p:spPr>
          <a:xfrm>
            <a:off x="571500" y="1141214"/>
            <a:ext cx="8001000" cy="780064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36F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"O FE3 Match é a solução de conciliação contábil do Itaú: analítica, padronizada e auditável, capaz de conciliar qualquer conta sem depender do conhecimento específico de cada produto."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571500" y="2549928"/>
            <a:ext cx="3786188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 que o FE3 Match faz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890149"/>
            <a:ext cx="142875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1531" y="2883898"/>
            <a:ext cx="254138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 bases analiticamente (X - Y = Z)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52682"/>
            <a:ext cx="142875" cy="14287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21531" y="3146431"/>
            <a:ext cx="2298502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 diferenças contábeis rastreáveis</a:t>
            </a:r>
            <a:endParaRPr lang="en-US" sz="9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415215"/>
            <a:ext cx="142875" cy="14287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21531" y="3408964"/>
            <a:ext cx="288428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Entrega resultado auditável com trilha completa</a:t>
            </a:r>
            <a:endParaRPr lang="en-US" sz="9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677748"/>
            <a:ext cx="142875" cy="142875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21531" y="3671497"/>
            <a:ext cx="255031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Funciona para qualquer produto do banco</a:t>
            </a:r>
            <a:endParaRPr lang="en-US" sz="950" dirty="0"/>
          </a:p>
        </p:txBody>
      </p:sp>
      <p:sp>
        <p:nvSpPr>
          <p:cNvPr id="15" name="Text 7"/>
          <p:cNvSpPr/>
          <p:nvPr/>
        </p:nvSpPr>
        <p:spPr>
          <a:xfrm>
            <a:off x="4786313" y="2549928"/>
            <a:ext cx="3786188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 que o FE3 Match não faz</a:t>
            </a:r>
            <a:endParaRPr lang="en-US" sz="11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313" y="2890149"/>
            <a:ext cx="142875" cy="142875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5036344" y="2883898"/>
            <a:ext cx="2669977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extrai nem prepara dados dos produtos</a:t>
            </a:r>
            <a:endParaRPr lang="en-US" sz="9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6313" y="3152682"/>
            <a:ext cx="142875" cy="142875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5036344" y="3146431"/>
            <a:ext cx="2175272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gerencia pendências contábeis</a:t>
            </a:r>
            <a:endParaRPr lang="en-US" sz="95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6313" y="3415215"/>
            <a:ext cx="142875" cy="142875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5036344" y="3408964"/>
            <a:ext cx="230564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contabiliza (não é motor contábil)</a:t>
            </a:r>
            <a:endParaRPr lang="en-US" sz="95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6313" y="3677748"/>
            <a:ext cx="142875" cy="142875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5036344" y="3671497"/>
            <a:ext cx="263961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substitui roteirizadores (Multivisão/BG)</a:t>
            </a:r>
            <a:endParaRPr lang="en-US" sz="950" dirty="0"/>
          </a:p>
        </p:txBody>
      </p:sp>
      <p:sp>
        <p:nvSpPr>
          <p:cNvPr id="24" name="Shape 12"/>
          <p:cNvSpPr/>
          <p:nvPr/>
        </p:nvSpPr>
        <p:spPr>
          <a:xfrm>
            <a:off x="1035844" y="4326936"/>
            <a:ext cx="1500188" cy="441127"/>
          </a:xfrm>
          <a:prstGeom prst="rect">
            <a:avLst/>
          </a:prstGeom>
          <a:solidFill>
            <a:srgbClr val="0036F6"/>
          </a:solidFill>
          <a:ln/>
        </p:spPr>
      </p:sp>
      <p:sp>
        <p:nvSpPr>
          <p:cNvPr id="25" name="Text 13"/>
          <p:cNvSpPr/>
          <p:nvPr/>
        </p:nvSpPr>
        <p:spPr>
          <a:xfrm>
            <a:off x="1035844" y="4326936"/>
            <a:ext cx="1500188" cy="441127"/>
          </a:xfrm>
          <a:prstGeom prst="rect">
            <a:avLst/>
          </a:prstGeom>
          <a:noFill/>
          <a:ln/>
        </p:spPr>
        <p:txBody>
          <a:bodyPr wrap="square" lIns="255143" tIns="170053" rIns="255143" bIns="170053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Produto Bancário</a:t>
            </a:r>
            <a:endParaRPr lang="en-US" sz="90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78906" y="4459988"/>
            <a:ext cx="171450" cy="171450"/>
          </a:xfrm>
          <a:prstGeom prst="rect">
            <a:avLst/>
          </a:prstGeom>
        </p:spPr>
      </p:pic>
      <p:sp>
        <p:nvSpPr>
          <p:cNvPr id="27" name="Shape 14"/>
          <p:cNvSpPr/>
          <p:nvPr/>
        </p:nvSpPr>
        <p:spPr>
          <a:xfrm>
            <a:off x="2993231" y="4326936"/>
            <a:ext cx="1735931" cy="441127"/>
          </a:xfrm>
          <a:prstGeom prst="rect">
            <a:avLst/>
          </a:prstGeom>
          <a:solidFill>
            <a:srgbClr val="0036F6"/>
          </a:solidFill>
          <a:ln/>
        </p:spPr>
      </p:sp>
      <p:sp>
        <p:nvSpPr>
          <p:cNvPr id="28" name="Text 15"/>
          <p:cNvSpPr/>
          <p:nvPr/>
        </p:nvSpPr>
        <p:spPr>
          <a:xfrm>
            <a:off x="2993231" y="4326936"/>
            <a:ext cx="1735931" cy="441127"/>
          </a:xfrm>
          <a:prstGeom prst="rect">
            <a:avLst/>
          </a:prstGeom>
          <a:noFill/>
          <a:ln/>
        </p:spPr>
        <p:txBody>
          <a:bodyPr wrap="square" lIns="255143" tIns="170053" rIns="255143" bIns="170053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Roteirizador Contábil</a:t>
            </a:r>
            <a:endParaRPr lang="en-US" sz="900" dirty="0"/>
          </a:p>
        </p:txBody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72038" y="4459988"/>
            <a:ext cx="171450" cy="171450"/>
          </a:xfrm>
          <a:prstGeom prst="rect">
            <a:avLst/>
          </a:prstGeom>
        </p:spPr>
      </p:pic>
      <p:sp>
        <p:nvSpPr>
          <p:cNvPr id="30" name="Shape 16"/>
          <p:cNvSpPr/>
          <p:nvPr/>
        </p:nvSpPr>
        <p:spPr>
          <a:xfrm>
            <a:off x="5186363" y="4298361"/>
            <a:ext cx="1141214" cy="498277"/>
          </a:xfrm>
          <a:prstGeom prst="rect">
            <a:avLst/>
          </a:prstGeom>
          <a:solidFill>
            <a:srgbClr val="FF5E27"/>
          </a:solidFill>
          <a:ln w="27432">
            <a:solidFill>
              <a:srgbClr val="FF5E27"/>
            </a:solidFill>
            <a:prstDash val="solid"/>
          </a:ln>
        </p:spPr>
      </p:sp>
      <p:sp>
        <p:nvSpPr>
          <p:cNvPr id="31" name="Text 17"/>
          <p:cNvSpPr/>
          <p:nvPr/>
        </p:nvSpPr>
        <p:spPr>
          <a:xfrm>
            <a:off x="5186363" y="4298361"/>
            <a:ext cx="1141214" cy="498277"/>
          </a:xfrm>
          <a:prstGeom prst="rect">
            <a:avLst/>
          </a:prstGeom>
          <a:noFill/>
          <a:ln/>
        </p:spPr>
        <p:txBody>
          <a:bodyPr wrap="none" lIns="255143" tIns="170053" rIns="255143" bIns="170053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FE3 Match</a:t>
            </a:r>
            <a:endParaRPr lang="en-US" sz="900" dirty="0"/>
          </a:p>
        </p:txBody>
      </p:sp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41877" y="4431413"/>
            <a:ext cx="171450" cy="171450"/>
          </a:xfrm>
          <a:prstGeom prst="rect">
            <a:avLst/>
          </a:prstGeom>
        </p:spPr>
      </p:pic>
      <p:sp>
        <p:nvSpPr>
          <p:cNvPr id="33" name="Shape 18"/>
          <p:cNvSpPr/>
          <p:nvPr/>
        </p:nvSpPr>
        <p:spPr>
          <a:xfrm>
            <a:off x="6756202" y="4298361"/>
            <a:ext cx="1323380" cy="441127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34" name="Text 19"/>
          <p:cNvSpPr/>
          <p:nvPr/>
        </p:nvSpPr>
        <p:spPr>
          <a:xfrm>
            <a:off x="6756202" y="4298361"/>
            <a:ext cx="1323380" cy="441127"/>
          </a:xfrm>
          <a:prstGeom prst="rect">
            <a:avLst/>
          </a:prstGeom>
          <a:noFill/>
          <a:ln/>
        </p:spPr>
        <p:txBody>
          <a:bodyPr wrap="square" lIns="255143" tIns="170053" rIns="255143" bIns="170053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036F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CONCILIAÇÃO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572500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Escala, cobertura e trajetória</a:t>
            </a:r>
            <a:endParaRPr lang="en-US" sz="1800" dirty="0"/>
          </a:p>
        </p:txBody>
      </p:sp>
      <p:sp>
        <p:nvSpPr>
          <p:cNvPr id="5" name="Shape 1"/>
          <p:cNvSpPr/>
          <p:nvPr/>
        </p:nvSpPr>
        <p:spPr>
          <a:xfrm>
            <a:off x="571500" y="1026914"/>
            <a:ext cx="3893344" cy="1528763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6" name="Shape 2"/>
          <p:cNvSpPr/>
          <p:nvPr/>
        </p:nvSpPr>
        <p:spPr>
          <a:xfrm>
            <a:off x="571500" y="1026914"/>
            <a:ext cx="3893344" cy="28575"/>
          </a:xfrm>
          <a:prstGeom prst="rect">
            <a:avLst/>
          </a:prstGeom>
          <a:solidFill>
            <a:srgbClr val="0036F6"/>
          </a:solidFill>
          <a:ln/>
        </p:spPr>
      </p:sp>
      <p:sp>
        <p:nvSpPr>
          <p:cNvPr id="7" name="Text 3"/>
          <p:cNvSpPr/>
          <p:nvPr/>
        </p:nvSpPr>
        <p:spPr>
          <a:xfrm>
            <a:off x="785813" y="1241227"/>
            <a:ext cx="3464719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5E2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1,2 bilhão</a:t>
            </a:r>
            <a:endParaRPr lang="en-US" sz="3300" dirty="0"/>
          </a:p>
        </p:txBody>
      </p:sp>
      <p:sp>
        <p:nvSpPr>
          <p:cNvPr id="8" name="Text 4"/>
          <p:cNvSpPr/>
          <p:nvPr/>
        </p:nvSpPr>
        <p:spPr>
          <a:xfrm>
            <a:off x="785813" y="1875234"/>
            <a:ext cx="310574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registros contábeis processados por dia pelo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785813" y="2060972"/>
            <a:ext cx="138767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motor do FE3 Match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679156" y="1026914"/>
            <a:ext cx="3893344" cy="1528763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1" name="Shape 7"/>
          <p:cNvSpPr/>
          <p:nvPr/>
        </p:nvSpPr>
        <p:spPr>
          <a:xfrm>
            <a:off x="4679156" y="1026914"/>
            <a:ext cx="3893344" cy="28575"/>
          </a:xfrm>
          <a:prstGeom prst="rect">
            <a:avLst/>
          </a:prstGeom>
          <a:solidFill>
            <a:srgbClr val="0036F6"/>
          </a:solidFill>
          <a:ln/>
        </p:spPr>
      </p:sp>
      <p:sp>
        <p:nvSpPr>
          <p:cNvPr id="12" name="Text 8"/>
          <p:cNvSpPr/>
          <p:nvPr/>
        </p:nvSpPr>
        <p:spPr>
          <a:xfrm>
            <a:off x="4893469" y="1241227"/>
            <a:ext cx="3464719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5E2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1.200+</a:t>
            </a:r>
            <a:endParaRPr lang="en-US" sz="3300" dirty="0"/>
          </a:p>
        </p:txBody>
      </p:sp>
      <p:sp>
        <p:nvSpPr>
          <p:cNvPr id="13" name="Text 9"/>
          <p:cNvSpPr/>
          <p:nvPr/>
        </p:nvSpPr>
        <p:spPr>
          <a:xfrm>
            <a:off x="4893469" y="1875234"/>
            <a:ext cx="308252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soluções de conciliação fragmentadas que o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893469" y="2060972"/>
            <a:ext cx="155733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sistema vem substituir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71500" y="3127177"/>
            <a:ext cx="80010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Horizonte de Cobertura do Portfólio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71500" y="3915668"/>
            <a:ext cx="8001000" cy="28575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7" name="Shape 13"/>
          <p:cNvSpPr/>
          <p:nvPr/>
        </p:nvSpPr>
        <p:spPr>
          <a:xfrm>
            <a:off x="571500" y="3693319"/>
            <a:ext cx="1107281" cy="587573"/>
          </a:xfrm>
          <a:prstGeom prst="rect">
            <a:avLst/>
          </a:prstGeom>
          <a:solidFill>
            <a:srgbClr val="FFFFFF"/>
          </a:solidFill>
          <a:ln w="18288">
            <a:solidFill>
              <a:srgbClr val="0036F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14375" y="3779044"/>
            <a:ext cx="792956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500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714375" y="4071938"/>
            <a:ext cx="79295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spc="1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CONTAS HOJE</a:t>
            </a:r>
            <a:endParaRPr lang="en-US" sz="7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662" y="3929063"/>
            <a:ext cx="71438" cy="11430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3866555" y="3693319"/>
            <a:ext cx="1130498" cy="587573"/>
          </a:xfrm>
          <a:prstGeom prst="rect">
            <a:avLst/>
          </a:prstGeom>
          <a:solidFill>
            <a:srgbClr val="FF5E27"/>
          </a:solidFill>
          <a:ln w="18288">
            <a:solidFill>
              <a:srgbClr val="FF5E27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023717" y="3779044"/>
            <a:ext cx="816173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6.300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4023717" y="4071938"/>
            <a:ext cx="81617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spc="1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META R2/2026</a:t>
            </a:r>
            <a:endParaRPr lang="en-US" sz="7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365" y="3929063"/>
            <a:ext cx="71438" cy="11430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7213402" y="3693319"/>
            <a:ext cx="1359098" cy="587573"/>
          </a:xfrm>
          <a:prstGeom prst="rect">
            <a:avLst/>
          </a:prstGeom>
          <a:solidFill>
            <a:srgbClr val="FFFFFF"/>
          </a:solidFill>
          <a:ln w="18288">
            <a:solidFill>
              <a:srgbClr val="0036F6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7384852" y="3764756"/>
            <a:ext cx="1044773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200.000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7384852" y="4057650"/>
            <a:ext cx="104477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spc="1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HORIZONTE TOTAL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28625" y="357188"/>
            <a:ext cx="8715375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 FE3 Match em produção: PIX e TVM</a:t>
            </a:r>
            <a:endParaRPr lang="en-US" sz="1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959941"/>
            <a:ext cx="150019" cy="20002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85800" y="955477"/>
            <a:ext cx="941189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Caso 1: PIX</a:t>
            </a:r>
            <a:endParaRPr lang="en-US" sz="1200" dirty="0"/>
          </a:p>
        </p:txBody>
      </p:sp>
      <p:sp>
        <p:nvSpPr>
          <p:cNvPr id="7" name="Shape 2"/>
          <p:cNvSpPr/>
          <p:nvPr/>
        </p:nvSpPr>
        <p:spPr>
          <a:xfrm>
            <a:off x="428625" y="1321594"/>
            <a:ext cx="1946672" cy="13716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8" name="Text 3"/>
          <p:cNvSpPr/>
          <p:nvPr/>
        </p:nvSpPr>
        <p:spPr>
          <a:xfrm>
            <a:off x="535781" y="1428750"/>
            <a:ext cx="173235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6666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ANTES</a:t>
            </a:r>
            <a:endParaRPr lang="en-US" sz="700" dirty="0"/>
          </a:p>
        </p:txBody>
      </p:sp>
      <p:sp>
        <p:nvSpPr>
          <p:cNvPr id="9" name="Text 4"/>
          <p:cNvSpPr/>
          <p:nvPr/>
        </p:nvSpPr>
        <p:spPr>
          <a:xfrm>
            <a:off x="535781" y="1621631"/>
            <a:ext cx="173235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Conciliação manual de débitos e créditos.</a:t>
            </a:r>
            <a:endParaRPr lang="en-US" sz="800" dirty="0"/>
          </a:p>
        </p:txBody>
      </p:sp>
      <p:sp>
        <p:nvSpPr>
          <p:cNvPr id="10" name="Text 5"/>
          <p:cNvSpPr/>
          <p:nvPr/>
        </p:nvSpPr>
        <p:spPr>
          <a:xfrm>
            <a:off x="535781" y="1978819"/>
            <a:ext cx="173235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Dependência de conhecimento tribal.</a:t>
            </a:r>
            <a:endParaRPr lang="en-US" sz="800" dirty="0"/>
          </a:p>
        </p:txBody>
      </p:sp>
      <p:sp>
        <p:nvSpPr>
          <p:cNvPr id="11" name="Text 6"/>
          <p:cNvSpPr/>
          <p:nvPr/>
        </p:nvSpPr>
        <p:spPr>
          <a:xfrm>
            <a:off x="535781" y="2336006"/>
            <a:ext cx="173235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Identificação de erros levava dias.</a:t>
            </a:r>
            <a:endParaRPr lang="en-US" sz="800" dirty="0"/>
          </a:p>
        </p:txBody>
      </p:sp>
      <p:sp>
        <p:nvSpPr>
          <p:cNvPr id="12" name="Shape 7"/>
          <p:cNvSpPr/>
          <p:nvPr/>
        </p:nvSpPr>
        <p:spPr>
          <a:xfrm>
            <a:off x="2482453" y="1321594"/>
            <a:ext cx="1946672" cy="1371600"/>
          </a:xfrm>
          <a:prstGeom prst="rect">
            <a:avLst/>
          </a:prstGeom>
          <a:solidFill>
            <a:srgbClr val="0036F6">
              <a:alpha val="8000"/>
            </a:srgbClr>
          </a:solidFill>
          <a:ln/>
        </p:spPr>
      </p:sp>
      <p:sp>
        <p:nvSpPr>
          <p:cNvPr id="13" name="Text 8"/>
          <p:cNvSpPr/>
          <p:nvPr/>
        </p:nvSpPr>
        <p:spPr>
          <a:xfrm>
            <a:off x="2589609" y="1428750"/>
            <a:ext cx="173235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36F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COM FE3 MATCH</a:t>
            </a:r>
            <a:endParaRPr lang="en-US" sz="700" dirty="0"/>
          </a:p>
        </p:txBody>
      </p:sp>
      <p:sp>
        <p:nvSpPr>
          <p:cNvPr id="14" name="Text 9"/>
          <p:cNvSpPr/>
          <p:nvPr/>
        </p:nvSpPr>
        <p:spPr>
          <a:xfrm>
            <a:off x="2589609" y="1621631"/>
            <a:ext cx="173235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Comparação automática por chave.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2589609" y="1978819"/>
            <a:ext cx="173235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Diferenças em tempo real.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2589609" y="2185988"/>
            <a:ext cx="173235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Trilha de auditoria completa.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535781" y="3086100"/>
            <a:ext cx="3893344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F5E2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Identificação de diferenças de dias para horas. Auditabilidade completa.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5" y="959941"/>
            <a:ext cx="200025" cy="2000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022056" y="955477"/>
            <a:ext cx="107156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Caso 2: TVM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714875" y="1321594"/>
            <a:ext cx="1946672" cy="13716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1" name="Text 15"/>
          <p:cNvSpPr/>
          <p:nvPr/>
        </p:nvSpPr>
        <p:spPr>
          <a:xfrm>
            <a:off x="4822031" y="1428750"/>
            <a:ext cx="173235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6666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ANTES</a:t>
            </a:r>
            <a:endParaRPr lang="en-US" sz="700" dirty="0"/>
          </a:p>
        </p:txBody>
      </p:sp>
      <p:sp>
        <p:nvSpPr>
          <p:cNvPr id="22" name="Text 16"/>
          <p:cNvSpPr/>
          <p:nvPr/>
        </p:nvSpPr>
        <p:spPr>
          <a:xfrm>
            <a:off x="4822031" y="1621631"/>
            <a:ext cx="173235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Comparação manual de saldos via Excel.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4822031" y="1978819"/>
            <a:ext cx="173235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Risco de erro de manuseio de dados.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4822031" y="2336006"/>
            <a:ext cx="173235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Lançamentos manuais sem causa documentada.</a:t>
            </a:r>
            <a:endParaRPr lang="en-US" sz="800" dirty="0"/>
          </a:p>
        </p:txBody>
      </p:sp>
      <p:sp>
        <p:nvSpPr>
          <p:cNvPr id="25" name="Shape 19"/>
          <p:cNvSpPr/>
          <p:nvPr/>
        </p:nvSpPr>
        <p:spPr>
          <a:xfrm>
            <a:off x="6768703" y="1321594"/>
            <a:ext cx="1946672" cy="1371600"/>
          </a:xfrm>
          <a:prstGeom prst="rect">
            <a:avLst/>
          </a:prstGeom>
          <a:solidFill>
            <a:srgbClr val="0036F6">
              <a:alpha val="8000"/>
            </a:srgbClr>
          </a:solidFill>
          <a:ln/>
        </p:spPr>
      </p:sp>
      <p:sp>
        <p:nvSpPr>
          <p:cNvPr id="26" name="Text 20"/>
          <p:cNvSpPr/>
          <p:nvPr/>
        </p:nvSpPr>
        <p:spPr>
          <a:xfrm>
            <a:off x="6875859" y="1428750"/>
            <a:ext cx="173235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36F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COM FE3 MATCH</a:t>
            </a:r>
            <a:endParaRPr lang="en-US" sz="700" dirty="0"/>
          </a:p>
        </p:txBody>
      </p:sp>
      <p:sp>
        <p:nvSpPr>
          <p:cNvPr id="27" name="Text 21"/>
          <p:cNvSpPr/>
          <p:nvPr/>
        </p:nvSpPr>
        <p:spPr>
          <a:xfrm>
            <a:off x="6875859" y="1621631"/>
            <a:ext cx="173235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Conciliação automática de saldo (Multivisão).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6875859" y="1978819"/>
            <a:ext cx="173235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Diferenças apresentadas lado a lado.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6875859" y="2336006"/>
            <a:ext cx="173235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GAPs tornados visíveis e acionáveis.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4822031" y="3086100"/>
            <a:ext cx="3893344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F5E2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Eliminação do Excel. Rastreabilidade completa e correção na origem.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572500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Trajetória: de produto em construção a padrão do banco</a:t>
            </a:r>
            <a:endParaRPr lang="en-US" sz="1800" dirty="0"/>
          </a:p>
        </p:txBody>
      </p:sp>
      <p:sp>
        <p:nvSpPr>
          <p:cNvPr id="5" name="Text 1"/>
          <p:cNvSpPr/>
          <p:nvPr/>
        </p:nvSpPr>
        <p:spPr>
          <a:xfrm>
            <a:off x="1022449" y="1455539"/>
            <a:ext cx="812602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Fundação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082278" y="1718072"/>
            <a:ext cx="69294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036F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CONCLUÍDO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571500" y="2398514"/>
            <a:ext cx="17145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Arquitetura técnica construída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571500" y="2615673"/>
            <a:ext cx="17145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Integração Multivisão, BG e PO/P6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571500" y="2992841"/>
            <a:ext cx="17145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Motor de conciliação em produção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3335824" y="1455539"/>
            <a:ext cx="37683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Hoje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107224" y="1718072"/>
            <a:ext cx="83403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5E2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EM OPERAÇÃO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2867016" y="2427089"/>
            <a:ext cx="13144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500 contas</a:t>
            </a:r>
            <a:r>
              <a:rPr lang="en-US" sz="8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conciliadas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2867016" y="2644248"/>
            <a:ext cx="13144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PIX e TVM em produção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2867016" y="2861407"/>
            <a:ext cx="13144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equipe POF utilizando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5286654" y="1455539"/>
            <a:ext cx="66615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R2/2026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137528" y="1718072"/>
            <a:ext cx="96440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036F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COMPROMETIDO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4762481" y="2398514"/>
            <a:ext cx="17145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6.300 contas</a:t>
            </a:r>
            <a:r>
              <a:rPr lang="en-US" sz="8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conciliadas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4762481" y="2615673"/>
            <a:ext cx="17145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equipes POF ativas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4762481" y="2832832"/>
            <a:ext cx="17145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Início do descomissionamento CB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7311600" y="1455539"/>
            <a:ext cx="807244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Horizonte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7537521" y="1718072"/>
            <a:ext cx="355402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036F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VISÃO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6889226" y="2398514"/>
            <a:ext cx="1651992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200 mil contas</a:t>
            </a:r>
            <a:r>
              <a:rPr lang="en-US" sz="8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cobertas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6889226" y="2615673"/>
            <a:ext cx="1651992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Padrão obrigatório onboarding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6889226" y="2832832"/>
            <a:ext cx="1651992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Substituição total de Alteryx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572500" cy="366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 FE3 Match já opera no seu portfólio</a:t>
            </a:r>
            <a:endParaRPr lang="en-US" sz="2100" dirty="0"/>
          </a:p>
        </p:txBody>
      </p:sp>
      <p:sp>
        <p:nvSpPr>
          <p:cNvPr id="5" name="Shape 1"/>
          <p:cNvSpPr/>
          <p:nvPr/>
        </p:nvSpPr>
        <p:spPr>
          <a:xfrm>
            <a:off x="571500" y="1080492"/>
            <a:ext cx="8001000" cy="115728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571500" y="1080492"/>
            <a:ext cx="42863" cy="1157288"/>
          </a:xfrm>
          <a:prstGeom prst="rect">
            <a:avLst/>
          </a:prstGeom>
          <a:solidFill>
            <a:srgbClr val="FF5E27"/>
          </a:solidFill>
          <a:ln/>
        </p:spPr>
      </p:sp>
      <p:sp>
        <p:nvSpPr>
          <p:cNvPr id="7" name="Text 3"/>
          <p:cNvSpPr/>
          <p:nvPr/>
        </p:nvSpPr>
        <p:spPr>
          <a:xfrm>
            <a:off x="785813" y="1466255"/>
            <a:ext cx="7572375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analistas do POF sob sua gestão já utilizam o FE3 Match. A expansão de 500 para 6.300 contas em R2 abrange diretamente os portfólios de finanças e governança que vocês supervisionam.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766417"/>
            <a:ext cx="200025" cy="20002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78681" y="2770882"/>
            <a:ext cx="98762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Governança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571500" y="3202186"/>
            <a:ext cx="2524116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Resposta estrutural ao risco de 1.200+ soluções não padronizadas. Cada conta migrada garante auditabilidade plena.</a:t>
            </a:r>
            <a:endParaRPr lang="en-US" sz="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9928" y="2766417"/>
            <a:ext cx="200025" cy="20002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617109" y="2770882"/>
            <a:ext cx="79652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Eficiência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3309928" y="3202186"/>
            <a:ext cx="2524116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Redução drástica de lançamentos manuais. Maior visibilidade para os times de POF focarem em análise, não em operação.</a:t>
            </a:r>
            <a:endParaRPr lang="en-US" sz="9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8356" y="2766417"/>
            <a:ext cx="200025" cy="20002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355538" y="2770882"/>
            <a:ext cx="1160859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Modernização</a:t>
            </a:r>
            <a:endParaRPr lang="en-US" sz="1100" dirty="0"/>
          </a:p>
        </p:txBody>
      </p:sp>
      <p:sp>
        <p:nvSpPr>
          <p:cNvPr id="16" name="Text 9"/>
          <p:cNvSpPr/>
          <p:nvPr/>
        </p:nvSpPr>
        <p:spPr>
          <a:xfrm>
            <a:off x="6048356" y="3202186"/>
            <a:ext cx="2524116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Integração nativa com a nova arquitetura contábil. Contas conciliadas estão prontas para o futuro, sem gaps ocultos.</a:t>
            </a:r>
            <a:endParaRPr lang="en-US" sz="950" dirty="0"/>
          </a:p>
        </p:txBody>
      </p:sp>
      <p:sp>
        <p:nvSpPr>
          <p:cNvPr id="17" name="Shape 10"/>
          <p:cNvSpPr/>
          <p:nvPr/>
        </p:nvSpPr>
        <p:spPr>
          <a:xfrm>
            <a:off x="571500" y="4572000"/>
            <a:ext cx="8001000" cy="35897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8" name="Shape 11"/>
          <p:cNvSpPr/>
          <p:nvPr/>
        </p:nvSpPr>
        <p:spPr>
          <a:xfrm>
            <a:off x="571500" y="4572000"/>
            <a:ext cx="8001000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2"/>
          <p:cNvSpPr/>
          <p:nvPr/>
        </p:nvSpPr>
        <p:spPr>
          <a:xfrm>
            <a:off x="571500" y="4714875"/>
            <a:ext cx="35004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Itaú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6336506" y="4758630"/>
            <a:ext cx="223599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FE3 Match | Squad Conciliação Contábil |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2026-05-25T12:15:30Z</dcterms:created>
  <dcterms:modified xsi:type="dcterms:W3CDTF">2026-05-25T12:15:30Z</dcterms:modified>
</cp:coreProperties>
</file>