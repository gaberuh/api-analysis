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3"/>
  </p:notesMasterIdLst>
  <p:sldIdLst>
    <p:sldId id="256" r:id="rId2"/>
  </p:sldIdLst>
  <p:sldSz cx="9144000" cy="15479713"/>
  <p:notesSz cx="123444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392A"/>
    <a:srgbClr val="ED6F00"/>
    <a:srgbClr val="226B3A"/>
    <a:srgbClr val="EAF5EF"/>
    <a:srgbClr val="163D7D"/>
    <a:srgbClr val="5886BF"/>
    <a:srgbClr val="F49456"/>
    <a:srgbClr val="D36D63"/>
    <a:srgbClr val="283FFE"/>
    <a:srgbClr val="F362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35"/>
    <p:restoredTop sz="94610"/>
  </p:normalViewPr>
  <p:slideViewPr>
    <p:cSldViewPr snapToGrid="0" snapToObjects="1">
      <p:cViewPr>
        <p:scale>
          <a:sx n="179" d="100"/>
          <a:sy n="179" d="100"/>
        </p:scale>
        <p:origin x="696" y="-1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470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33371"/>
            <a:ext cx="7772400" cy="538923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8130434"/>
            <a:ext cx="6858000" cy="373734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438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7699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859183"/>
            <a:ext cx="7886700" cy="643912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0359229"/>
            <a:ext cx="7886700" cy="3386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8328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4120757"/>
            <a:ext cx="3886200" cy="982173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4120757"/>
            <a:ext cx="3886200" cy="982173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0092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24155"/>
            <a:ext cx="7886700" cy="299202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3794681"/>
            <a:ext cx="3868340" cy="18597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5654395"/>
            <a:ext cx="3868340" cy="83167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3794681"/>
            <a:ext cx="3887391" cy="18597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5654395"/>
            <a:ext cx="3887391" cy="83167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4469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224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8289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31981"/>
            <a:ext cx="2949178" cy="36119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2228796"/>
            <a:ext cx="4629150" cy="110006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643914"/>
            <a:ext cx="2949178" cy="86034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1528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31981"/>
            <a:ext cx="2949178" cy="36119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2228796"/>
            <a:ext cx="4629150" cy="1100062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643914"/>
            <a:ext cx="2949178" cy="86034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2664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1632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824152"/>
            <a:ext cx="1971675" cy="1311834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824152"/>
            <a:ext cx="5800725" cy="1311834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6926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43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24155"/>
            <a:ext cx="7886700" cy="29920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4120757"/>
            <a:ext cx="7886700" cy="9821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4347404"/>
            <a:ext cx="2057400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4347404"/>
            <a:ext cx="3086100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4347404"/>
            <a:ext cx="2057400" cy="824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65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Shape 10">
            <a:extLst>
              <a:ext uri="{FF2B5EF4-FFF2-40B4-BE49-F238E27FC236}">
                <a16:creationId xmlns:a16="http://schemas.microsoft.com/office/drawing/2014/main" id="{40E9729D-13E0-5DFA-FA5C-207EA56D528F}"/>
              </a:ext>
            </a:extLst>
          </p:cNvPr>
          <p:cNvSpPr/>
          <p:nvPr/>
        </p:nvSpPr>
        <p:spPr>
          <a:xfrm>
            <a:off x="6819138" y="1053226"/>
            <a:ext cx="2123694" cy="804672"/>
          </a:xfrm>
          <a:prstGeom prst="roundRect">
            <a:avLst>
              <a:gd name="adj" fmla="val 7592"/>
            </a:avLst>
          </a:prstGeom>
          <a:solidFill>
            <a:srgbClr val="F5F5F5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27" name="Shape 10">
            <a:extLst>
              <a:ext uri="{FF2B5EF4-FFF2-40B4-BE49-F238E27FC236}">
                <a16:creationId xmlns:a16="http://schemas.microsoft.com/office/drawing/2014/main" id="{C271283F-B0B1-8848-7A76-56EC7B2876C0}"/>
              </a:ext>
            </a:extLst>
          </p:cNvPr>
          <p:cNvSpPr/>
          <p:nvPr/>
        </p:nvSpPr>
        <p:spPr>
          <a:xfrm>
            <a:off x="4613148" y="1062370"/>
            <a:ext cx="2123694" cy="804672"/>
          </a:xfrm>
          <a:prstGeom prst="roundRect">
            <a:avLst>
              <a:gd name="adj" fmla="val 7592"/>
            </a:avLst>
          </a:prstGeom>
          <a:solidFill>
            <a:srgbClr val="E8F1FA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25" name="Shape 10">
            <a:extLst>
              <a:ext uri="{FF2B5EF4-FFF2-40B4-BE49-F238E27FC236}">
                <a16:creationId xmlns:a16="http://schemas.microsoft.com/office/drawing/2014/main" id="{B3205AF9-1C69-72FB-C172-58862D802BD4}"/>
              </a:ext>
            </a:extLst>
          </p:cNvPr>
          <p:cNvSpPr/>
          <p:nvPr/>
        </p:nvSpPr>
        <p:spPr>
          <a:xfrm>
            <a:off x="2407158" y="1071514"/>
            <a:ext cx="2123694" cy="804672"/>
          </a:xfrm>
          <a:prstGeom prst="roundRect">
            <a:avLst>
              <a:gd name="adj" fmla="val 7592"/>
            </a:avLst>
          </a:prstGeom>
          <a:solidFill>
            <a:srgbClr val="EAF5EF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-852"/>
            <a:ext cx="9144000" cy="713232"/>
          </a:xfrm>
          <a:prstGeom prst="rect">
            <a:avLst/>
          </a:prstGeom>
          <a:solidFill>
            <a:srgbClr val="283FFE"/>
          </a:solidFill>
          <a:ln w="12700">
            <a:noFill/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228600" y="5401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50" dirty="0">
                <a:solidFill>
                  <a:schemeClr val="bg1">
                    <a:lumMod val="95000"/>
                  </a:schemeClr>
                </a:solidFill>
              </a:rPr>
              <a:t>EFICIÊNCIA OPERACIONAL &amp; CONFIABILIDADE  ·  VISÃO EXECUTIVA</a:t>
            </a:r>
            <a:endParaRPr lang="en-US" sz="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2003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Health Intelligence Platform  —  One Page Estratégico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" y="474636"/>
            <a:ext cx="6858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Score de risco multicritério · 323 APIs analisadas · Oportunidades de economia e próximos passos</a:t>
            </a:r>
          </a:p>
        </p:txBody>
      </p:sp>
      <p:sp>
        <p:nvSpPr>
          <p:cNvPr id="9" name="Text 7"/>
          <p:cNvSpPr/>
          <p:nvPr/>
        </p:nvSpPr>
        <p:spPr>
          <a:xfrm>
            <a:off x="7315200" y="520356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50" dirty="0">
                <a:solidFill>
                  <a:schemeClr val="bg1">
                    <a:lumMod val="95000"/>
                  </a:schemeClr>
                </a:solidFill>
              </a:rPr>
              <a:t>Abril 2026</a:t>
            </a:r>
          </a:p>
        </p:txBody>
      </p:sp>
      <p:sp>
        <p:nvSpPr>
          <p:cNvPr id="10" name="Shape 8"/>
          <p:cNvSpPr/>
          <p:nvPr/>
        </p:nvSpPr>
        <p:spPr>
          <a:xfrm>
            <a:off x="201168" y="815482"/>
            <a:ext cx="45720" cy="20116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81548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F36203"/>
                </a:solidFill>
              </a:rPr>
              <a:t>DIAGNÓSTICO ATUAL — 323 APIs ANALISADAS</a:t>
            </a:r>
            <a:endParaRPr lang="en-US" sz="750" dirty="0">
              <a:solidFill>
                <a:srgbClr val="F36203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1168" y="1071514"/>
            <a:ext cx="2123694" cy="804672"/>
          </a:xfrm>
          <a:prstGeom prst="roundRect">
            <a:avLst>
              <a:gd name="adj" fmla="val 7592"/>
            </a:avLst>
          </a:prstGeom>
          <a:solidFill>
            <a:srgbClr val="FEF0E6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01168" y="1837634"/>
            <a:ext cx="2123694" cy="36576"/>
          </a:xfrm>
          <a:prstGeom prst="round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1144666"/>
            <a:ext cx="21236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R$ 86.656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" y="1492138"/>
            <a:ext cx="21236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444444"/>
                </a:solidFill>
              </a:rPr>
              <a:t>Custo operacional / mês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" y="1656730"/>
            <a:ext cx="212369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</a:rPr>
              <a:t>Total do portfólio monitorado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07158" y="1144666"/>
            <a:ext cx="21236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22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R$ 37.253</a:t>
            </a:r>
            <a:endParaRPr lang="en-US" sz="2200" dirty="0">
              <a:solidFill>
                <a:srgbClr val="226B3A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407158" y="1492138"/>
            <a:ext cx="21236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444444"/>
                </a:solidFill>
              </a:rPr>
              <a:t>Saving/</a:t>
            </a:r>
            <a:r>
              <a:rPr lang="en-US" sz="850" b="1" dirty="0" err="1">
                <a:solidFill>
                  <a:srgbClr val="444444"/>
                </a:solidFill>
              </a:rPr>
              <a:t>mês</a:t>
            </a:r>
            <a:r>
              <a:rPr lang="en-US" sz="850" b="1" dirty="0">
                <a:solidFill>
                  <a:srgbClr val="444444"/>
                </a:solidFill>
              </a:rPr>
              <a:t> com -20% </a:t>
            </a:r>
            <a:r>
              <a:rPr lang="en-US" sz="850" b="1" dirty="0" err="1">
                <a:solidFill>
                  <a:srgbClr val="444444"/>
                </a:solidFill>
              </a:rPr>
              <a:t>latência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07158" y="1656730"/>
            <a:ext cx="212369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</a:rPr>
              <a:t>43% do </a:t>
            </a:r>
            <a:r>
              <a:rPr lang="en-US" sz="750" dirty="0" err="1">
                <a:solidFill>
                  <a:srgbClr val="888888"/>
                </a:solidFill>
              </a:rPr>
              <a:t>custo</a:t>
            </a:r>
            <a:r>
              <a:rPr lang="en-US" sz="750" dirty="0">
                <a:solidFill>
                  <a:srgbClr val="888888"/>
                </a:solidFill>
              </a:rPr>
              <a:t> total – </a:t>
            </a:r>
            <a:r>
              <a:rPr lang="en-US" sz="750" dirty="0" err="1">
                <a:solidFill>
                  <a:srgbClr val="888888"/>
                </a:solidFill>
              </a:rPr>
              <a:t>maior</a:t>
            </a:r>
            <a:r>
              <a:rPr lang="en-US" sz="750" dirty="0">
                <a:solidFill>
                  <a:srgbClr val="888888"/>
                </a:solidFill>
              </a:rPr>
              <a:t> </a:t>
            </a:r>
            <a:r>
              <a:rPr lang="en-US" sz="750" dirty="0" err="1">
                <a:solidFill>
                  <a:srgbClr val="888888"/>
                </a:solidFill>
              </a:rPr>
              <a:t>alavanca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13148" y="1144666"/>
            <a:ext cx="21236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13148" y="1492138"/>
            <a:ext cx="21236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444444"/>
                </a:solidFill>
              </a:rPr>
              <a:t>APIs </a:t>
            </a:r>
            <a:r>
              <a:rPr lang="en-US" sz="850" b="1" dirty="0" err="1">
                <a:solidFill>
                  <a:srgbClr val="444444"/>
                </a:solidFill>
              </a:rPr>
              <a:t>requerem</a:t>
            </a:r>
            <a:r>
              <a:rPr lang="en-US" sz="850" b="1" dirty="0">
                <a:solidFill>
                  <a:srgbClr val="444444"/>
                </a:solidFill>
              </a:rPr>
              <a:t> </a:t>
            </a:r>
            <a:r>
              <a:rPr lang="en-US" sz="850" b="1" dirty="0" err="1">
                <a:solidFill>
                  <a:srgbClr val="444444"/>
                </a:solidFill>
              </a:rPr>
              <a:t>ação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3148" y="1656730"/>
            <a:ext cx="212369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</a:rPr>
              <a:t>205 de 323 – 38 CRÍTICO e 167 ALTO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19138" y="1144666"/>
            <a:ext cx="21236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APIs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19138" y="1492138"/>
            <a:ext cx="212369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 err="1">
                <a:solidFill>
                  <a:srgbClr val="444444"/>
                </a:solidFill>
              </a:rPr>
              <a:t>Candidatas</a:t>
            </a:r>
            <a:r>
              <a:rPr lang="en-US" sz="850" b="1" dirty="0">
                <a:solidFill>
                  <a:srgbClr val="444444"/>
                </a:solidFill>
              </a:rPr>
              <a:t> a </a:t>
            </a:r>
            <a:r>
              <a:rPr lang="en-US" sz="850" b="1" dirty="0" err="1">
                <a:solidFill>
                  <a:srgbClr val="444444"/>
                </a:solidFill>
              </a:rPr>
              <a:t>descomissaionemtno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19138" y="1656730"/>
            <a:ext cx="212369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888888"/>
                </a:solidFill>
              </a:rPr>
              <a:t>Cluster LONG_TAIL – </a:t>
            </a:r>
            <a:r>
              <a:rPr lang="en-US" sz="750" dirty="0" err="1">
                <a:solidFill>
                  <a:srgbClr val="888888"/>
                </a:solidFill>
              </a:rPr>
              <a:t>baixo</a:t>
            </a:r>
            <a:r>
              <a:rPr lang="en-US" sz="750" dirty="0">
                <a:solidFill>
                  <a:srgbClr val="888888"/>
                </a:solidFill>
              </a:rPr>
              <a:t> volume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22430" y="2040778"/>
            <a:ext cx="45720" cy="201168"/>
          </a:xfrm>
          <a:prstGeom prst="rect">
            <a:avLst/>
          </a:prstGeom>
          <a:solidFill>
            <a:srgbClr val="F36203"/>
          </a:solidFill>
          <a:ln w="12700">
            <a:noFill/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3874" y="2040778"/>
            <a:ext cx="36290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F36203"/>
                </a:solidFill>
              </a:rPr>
              <a:t>CORRELAÇÕES ESTATÍSTICAS E SIMULAÇÃO DE GANHOS</a:t>
            </a:r>
            <a:endParaRPr lang="en-US" sz="750" dirty="0">
              <a:solidFill>
                <a:srgbClr val="F36203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01168" y="2032264"/>
            <a:ext cx="4297680" cy="292608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83FFE"/>
          </a:solidFill>
          <a:ln w="12700">
            <a:noFill/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2032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chemeClr val="bg1"/>
                </a:solidFill>
              </a:rPr>
              <a:t>35 APIs </a:t>
            </a:r>
            <a:r>
              <a:rPr lang="en-US" sz="900" b="1" dirty="0" err="1">
                <a:solidFill>
                  <a:schemeClr val="bg1"/>
                </a:solidFill>
              </a:rPr>
              <a:t>em</a:t>
            </a:r>
            <a:r>
              <a:rPr lang="en-US" sz="900" b="1" dirty="0">
                <a:solidFill>
                  <a:schemeClr val="bg1"/>
                </a:solidFill>
              </a:rPr>
              <a:t> CRÍTICO · top outliers de </a:t>
            </a:r>
            <a:r>
              <a:rPr lang="en-US" sz="900" b="1" dirty="0" err="1">
                <a:solidFill>
                  <a:schemeClr val="bg1"/>
                </a:solidFill>
              </a:rPr>
              <a:t>custo</a:t>
            </a:r>
            <a:r>
              <a:rPr lang="en-US" sz="900" b="1" dirty="0">
                <a:solidFill>
                  <a:schemeClr val="bg1"/>
                </a:solidFill>
              </a:rPr>
              <a:t> e </a:t>
            </a:r>
            <a:r>
              <a:rPr lang="en-US" sz="900" b="1" dirty="0" err="1">
                <a:solidFill>
                  <a:schemeClr val="bg1"/>
                </a:solidFill>
              </a:rPr>
              <a:t>erro</a:t>
            </a:r>
            <a:r>
              <a:rPr lang="en-US" sz="900" b="1" dirty="0">
                <a:solidFill>
                  <a:schemeClr val="bg1"/>
                </a:solidFill>
              </a:rPr>
              <a:t> 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926080" y="2094698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F36203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30989" y="209290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</a:rPr>
              <a:t>CRÍTICO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346704" y="2032264"/>
            <a:ext cx="1106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00" b="1" dirty="0">
                <a:solidFill>
                  <a:schemeClr val="bg1">
                    <a:lumMod val="95000"/>
                  </a:schemeClr>
                </a:solidFill>
              </a:rPr>
              <a:t>R$ 15.617/</a:t>
            </a:r>
            <a:r>
              <a:rPr lang="en-US" sz="700" b="1" dirty="0" err="1">
                <a:solidFill>
                  <a:schemeClr val="bg1">
                    <a:lumMod val="95000"/>
                  </a:schemeClr>
                </a:solidFill>
              </a:rPr>
              <a:t>mês</a:t>
            </a:r>
            <a:endParaRPr lang="en-US" sz="7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01168" y="2324872"/>
            <a:ext cx="4297680" cy="237744"/>
          </a:xfrm>
          <a:prstGeom prst="rect">
            <a:avLst/>
          </a:prstGeom>
          <a:solidFill>
            <a:srgbClr val="E8F0FA"/>
          </a:solidFill>
          <a:ln w="6350">
            <a:solidFill>
              <a:srgbClr val="003D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" y="232487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#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12064" y="232487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API (Sigla)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929384" y="232487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Score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679192" y="232487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Erro 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182112" y="2324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003D7D"/>
                </a:solidFill>
              </a:rPr>
              <a:t>Latência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40480" y="23248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 err="1">
                <a:solidFill>
                  <a:srgbClr val="003D7D"/>
                </a:solidFill>
              </a:rPr>
              <a:t>Volumetria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1168" y="2562616"/>
            <a:ext cx="4297680" cy="274320"/>
          </a:xfrm>
          <a:prstGeom prst="rect">
            <a:avLst/>
          </a:prstGeom>
          <a:solidFill>
            <a:srgbClr val="FDEDEB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2670" y="2562616"/>
            <a:ext cx="457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" y="256261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2064" y="2562616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NZ8  </a:t>
            </a:r>
            <a:r>
              <a:rPr lang="en-US" sz="800" b="1" dirty="0" err="1">
                <a:solidFill>
                  <a:srgbClr val="1A1A2E"/>
                </a:solidFill>
              </a:rPr>
              <a:t>parceiros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929384" y="2663200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29384" y="2663200"/>
            <a:ext cx="502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61642" y="2635768"/>
            <a:ext cx="36895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C0392B"/>
                </a:solidFill>
              </a:rPr>
              <a:t>7,30</a:t>
            </a:r>
            <a:endParaRPr lang="en-US" sz="600" b="1" dirty="0"/>
          </a:p>
        </p:txBody>
      </p:sp>
      <p:sp>
        <p:nvSpPr>
          <p:cNvPr id="53" name="Text 51"/>
          <p:cNvSpPr/>
          <p:nvPr/>
        </p:nvSpPr>
        <p:spPr>
          <a:xfrm>
            <a:off x="2679192" y="25626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ED6F00"/>
                </a:solidFill>
              </a:rPr>
              <a:t>28,8%</a:t>
            </a:r>
            <a:endParaRPr lang="en-US" sz="800" dirty="0">
              <a:solidFill>
                <a:srgbClr val="ED6F00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3182112" y="256261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3.939ms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840480" y="256261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A1A2E"/>
                </a:solidFill>
              </a:rPr>
              <a:t>2 </a:t>
            </a:r>
            <a:r>
              <a:rPr lang="en-US" sz="800" b="1" dirty="0" err="1">
                <a:solidFill>
                  <a:srgbClr val="1A1A2E"/>
                </a:solidFill>
              </a:rPr>
              <a:t>milhões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01168" y="2836936"/>
            <a:ext cx="4297680" cy="274320"/>
          </a:xfrm>
          <a:prstGeom prst="rect">
            <a:avLst/>
          </a:prstGeom>
          <a:solidFill>
            <a:srgbClr val="FDEDEB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2670" y="2836936"/>
            <a:ext cx="457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888" y="283693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2064" y="2836936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NZ8  seller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929384" y="2937520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29388" y="2937520"/>
            <a:ext cx="432511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79192" y="283693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ED6F00"/>
                </a:solidFill>
              </a:rPr>
              <a:t>25,9%</a:t>
            </a:r>
            <a:endParaRPr lang="en-US" sz="800" dirty="0">
              <a:solidFill>
                <a:srgbClr val="ED6F00"/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3182112" y="283693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2.592ms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840480" y="283693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A1A2E"/>
                </a:solidFill>
              </a:rPr>
              <a:t>2 </a:t>
            </a:r>
            <a:r>
              <a:rPr lang="en-US" sz="800" b="1" dirty="0" err="1">
                <a:solidFill>
                  <a:srgbClr val="1A1A2E"/>
                </a:solidFill>
              </a:rPr>
              <a:t>milhões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01168" y="3111256"/>
            <a:ext cx="42976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6888" y="311125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" y="3111256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C1  </a:t>
            </a:r>
            <a:r>
              <a:rPr lang="en-US" sz="800" b="1" dirty="0" err="1">
                <a:solidFill>
                  <a:srgbClr val="1A1A2E"/>
                </a:solidFill>
              </a:rPr>
              <a:t>registrocontato</a:t>
            </a:r>
            <a:r>
              <a:rPr lang="en-US" sz="800" b="1" dirty="0">
                <a:solidFill>
                  <a:srgbClr val="1A1A2E"/>
                </a:solidFill>
              </a:rPr>
              <a:t> </a:t>
            </a:r>
            <a:r>
              <a:rPr lang="en-US" sz="800" b="1" dirty="0" err="1">
                <a:solidFill>
                  <a:srgbClr val="1A1A2E"/>
                </a:solidFill>
              </a:rPr>
              <a:t>antend</a:t>
            </a:r>
            <a:r>
              <a:rPr lang="en-US" sz="800" b="1" dirty="0">
                <a:solidFill>
                  <a:srgbClr val="1A1A2E"/>
                </a:solidFill>
              </a:rPr>
              <a:t>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929384" y="3211840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29384" y="3211840"/>
            <a:ext cx="412394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79192" y="31112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EC7000"/>
                </a:solidFill>
              </a:rPr>
              <a:t>32,4%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182112" y="31112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6.191ms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840480" y="311125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A1A2E"/>
                </a:solidFill>
              </a:rPr>
              <a:t>1 </a:t>
            </a:r>
            <a:r>
              <a:rPr lang="en-US" sz="800" b="1" dirty="0" err="1">
                <a:solidFill>
                  <a:srgbClr val="1A1A2E"/>
                </a:solidFill>
              </a:rPr>
              <a:t>milhão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" y="3385576"/>
            <a:ext cx="4297680" cy="274320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46888" y="338557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4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2064" y="3385576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OY8  </a:t>
            </a:r>
            <a:r>
              <a:rPr lang="en-US" sz="800" b="1" dirty="0" err="1">
                <a:solidFill>
                  <a:srgbClr val="1A1A2E"/>
                </a:solidFill>
              </a:rPr>
              <a:t>atend</a:t>
            </a:r>
            <a:r>
              <a:rPr lang="en-US" sz="800" b="1" dirty="0">
                <a:solidFill>
                  <a:srgbClr val="1A1A2E"/>
                </a:solidFill>
              </a:rPr>
              <a:t>. </a:t>
            </a:r>
            <a:r>
              <a:rPr lang="en-US" sz="800" b="1" dirty="0" err="1">
                <a:solidFill>
                  <a:srgbClr val="1A1A2E"/>
                </a:solidFill>
              </a:rPr>
              <a:t>imob</a:t>
            </a:r>
            <a:r>
              <a:rPr lang="en-US" sz="800" b="1" dirty="0">
                <a:solidFill>
                  <a:srgbClr val="1A1A2E"/>
                </a:solidFill>
              </a:rPr>
              <a:t>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929384" y="3486160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929384" y="3486160"/>
            <a:ext cx="412394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61643" y="3195592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6,75</a:t>
            </a:r>
            <a:endParaRPr lang="en-US" sz="600" b="1" dirty="0"/>
          </a:p>
        </p:txBody>
      </p:sp>
      <p:sp>
        <p:nvSpPr>
          <p:cNvPr id="83" name="Text 81"/>
          <p:cNvSpPr/>
          <p:nvPr/>
        </p:nvSpPr>
        <p:spPr>
          <a:xfrm>
            <a:off x="2679192" y="33855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C1392A"/>
                </a:solidFill>
              </a:rPr>
              <a:t>76,4%</a:t>
            </a:r>
            <a:endParaRPr lang="en-US" sz="800" dirty="0">
              <a:solidFill>
                <a:srgbClr val="C1392A"/>
              </a:solidFill>
            </a:endParaRPr>
          </a:p>
        </p:txBody>
      </p:sp>
      <p:sp>
        <p:nvSpPr>
          <p:cNvPr id="84" name="Text 82"/>
          <p:cNvSpPr/>
          <p:nvPr/>
        </p:nvSpPr>
        <p:spPr>
          <a:xfrm>
            <a:off x="3182112" y="338557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843ms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840480" y="338557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A1A2E"/>
                </a:solidFill>
              </a:rPr>
              <a:t>239 mil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01168" y="3659896"/>
            <a:ext cx="42976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6888" y="365989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12064" y="3659896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MD8  </a:t>
            </a:r>
            <a:r>
              <a:rPr lang="en-US" sz="800" b="1" dirty="0" err="1">
                <a:solidFill>
                  <a:srgbClr val="1A1A2E"/>
                </a:solidFill>
              </a:rPr>
              <a:t>onepage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929384" y="3760480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929388" y="3760480"/>
            <a:ext cx="382219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79192" y="36598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/>
              <a:t>15,4%</a:t>
            </a:r>
          </a:p>
        </p:txBody>
      </p:sp>
      <p:sp>
        <p:nvSpPr>
          <p:cNvPr id="95" name="Text 93"/>
          <p:cNvSpPr/>
          <p:nvPr/>
        </p:nvSpPr>
        <p:spPr>
          <a:xfrm>
            <a:off x="3182112" y="365989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2.015ms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787302" y="3659896"/>
            <a:ext cx="7115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A1A2E"/>
                </a:solidFill>
              </a:rPr>
              <a:t>1,4 </a:t>
            </a:r>
            <a:r>
              <a:rPr lang="en-US" sz="800" b="1" dirty="0" err="1">
                <a:solidFill>
                  <a:srgbClr val="1A1A2E"/>
                </a:solidFill>
              </a:rPr>
              <a:t>milhões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01168" y="3934216"/>
            <a:ext cx="4297680" cy="274320"/>
          </a:xfrm>
          <a:prstGeom prst="rect">
            <a:avLst/>
          </a:prstGeom>
          <a:solidFill>
            <a:srgbClr val="FAFAFA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46888" y="393421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12064" y="3934216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JX9  </a:t>
            </a:r>
            <a:r>
              <a:rPr lang="en-US" sz="800" b="1" dirty="0" err="1">
                <a:solidFill>
                  <a:srgbClr val="1A1A2E"/>
                </a:solidFill>
              </a:rPr>
              <a:t>oferta</a:t>
            </a:r>
            <a:r>
              <a:rPr lang="en-US" sz="800" b="1" dirty="0">
                <a:solidFill>
                  <a:srgbClr val="1A1A2E"/>
                </a:solidFill>
              </a:rPr>
              <a:t> </a:t>
            </a:r>
            <a:r>
              <a:rPr lang="en-US" sz="800" b="1" dirty="0" err="1">
                <a:solidFill>
                  <a:srgbClr val="1A1A2E"/>
                </a:solidFill>
              </a:rPr>
              <a:t>consig</a:t>
            </a:r>
            <a:r>
              <a:rPr lang="en-US" sz="800" b="1" dirty="0">
                <a:solidFill>
                  <a:srgbClr val="1A1A2E"/>
                </a:solidFill>
              </a:rPr>
              <a:t>. </a:t>
            </a:r>
            <a:r>
              <a:rPr lang="en-US" sz="800" b="1" dirty="0" err="1">
                <a:solidFill>
                  <a:srgbClr val="1A1A2E"/>
                </a:solidFill>
              </a:rPr>
              <a:t>icaas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929384" y="4034800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929384" y="4034800"/>
            <a:ext cx="377190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679192" y="3934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C1392A"/>
                </a:solidFill>
              </a:rPr>
              <a:t>68,1%</a:t>
            </a:r>
          </a:p>
        </p:txBody>
      </p:sp>
      <p:sp>
        <p:nvSpPr>
          <p:cNvPr id="104" name="Text 102"/>
          <p:cNvSpPr/>
          <p:nvPr/>
        </p:nvSpPr>
        <p:spPr>
          <a:xfrm>
            <a:off x="3182112" y="393421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2.485ms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3787302" y="3934216"/>
            <a:ext cx="7115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A1A2E"/>
                </a:solidFill>
              </a:rPr>
              <a:t>1,7 </a:t>
            </a:r>
            <a:r>
              <a:rPr lang="en-US" sz="800" b="1" dirty="0" err="1">
                <a:solidFill>
                  <a:srgbClr val="1A1A2E"/>
                </a:solidFill>
              </a:rPr>
              <a:t>milhões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01168" y="4208536"/>
            <a:ext cx="42976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46888" y="420853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12064" y="4208536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1A1A2E"/>
                </a:solidFill>
              </a:rPr>
              <a:t>FJ1  dispute-create </a:t>
            </a:r>
            <a:r>
              <a:rPr lang="en-US" sz="800" b="1" dirty="0" err="1">
                <a:solidFill>
                  <a:srgbClr val="1A1A2E"/>
                </a:solidFill>
              </a:rPr>
              <a:t>bff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929384" y="4309120"/>
            <a:ext cx="50292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929384" y="4309120"/>
            <a:ext cx="341986" cy="73152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679192" y="420853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rgbClr val="EC7000"/>
                </a:solidFill>
              </a:rPr>
              <a:t>24,7%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3182112" y="420853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444444"/>
                </a:solidFill>
              </a:rPr>
              <a:t>2.091ms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787302" y="4208536"/>
            <a:ext cx="7115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1A1A2E"/>
                </a:solidFill>
              </a:rPr>
              <a:t>1,5 </a:t>
            </a:r>
            <a:r>
              <a:rPr lang="en-US" sz="800" b="1" dirty="0" err="1">
                <a:solidFill>
                  <a:srgbClr val="1A1A2E"/>
                </a:solidFill>
              </a:rPr>
              <a:t>milhões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201168" y="2324872"/>
            <a:ext cx="4297680" cy="4329358"/>
          </a:xfrm>
          <a:prstGeom prst="round2SameRect">
            <a:avLst>
              <a:gd name="adj1" fmla="val 0"/>
              <a:gd name="adj2" fmla="val 1514"/>
            </a:avLst>
          </a:prstGeom>
          <a:noFill/>
          <a:ln w="3810">
            <a:solidFill>
              <a:srgbClr val="E8E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74320" y="4482856"/>
            <a:ext cx="4187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i="1" dirty="0">
                <a:solidFill>
                  <a:srgbClr val="C0392B"/>
                </a:solidFill>
              </a:rPr>
              <a:t>★  EXT = API externa — risco ao cliente final e impacto regulatório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4626864" y="2388946"/>
            <a:ext cx="4315968" cy="810000"/>
          </a:xfrm>
          <a:prstGeom prst="roundRect">
            <a:avLst>
              <a:gd name="adj" fmla="val 3807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18" name="Shape 116"/>
          <p:cNvSpPr/>
          <p:nvPr/>
        </p:nvSpPr>
        <p:spPr>
          <a:xfrm>
            <a:off x="4626864" y="2388946"/>
            <a:ext cx="54864" cy="810000"/>
          </a:xfrm>
          <a:prstGeom prst="rect">
            <a:avLst/>
          </a:prstGeom>
          <a:solidFill>
            <a:srgbClr val="F36203"/>
          </a:solidFill>
          <a:ln w="12700">
            <a:noFill/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736592" y="2434666"/>
            <a:ext cx="4169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50" dirty="0">
                <a:solidFill>
                  <a:srgbClr val="EC7000"/>
                </a:solidFill>
              </a:rPr>
              <a:t>Correlação forte · r = 1.00 · p = 0.000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736592" y="2571826"/>
            <a:ext cx="4169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Volumetria determina custo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4736592" y="2800076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3 APIs (HV3, HI8, PW2) </a:t>
            </a:r>
            <a:r>
              <a:rPr lang="en-US" sz="750" dirty="0" err="1">
                <a:solidFill>
                  <a:srgbClr val="444444"/>
                </a:solidFill>
              </a:rPr>
              <a:t>concentram</a:t>
            </a:r>
            <a:r>
              <a:rPr lang="en-US" sz="750" dirty="0">
                <a:solidFill>
                  <a:srgbClr val="444444"/>
                </a:solidFill>
              </a:rPr>
              <a:t> 54,7% do custo total — R$ 47.399/mês. Otimizar estas primeiro é o maior ROI.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4736592" y="3036542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EC7000"/>
                </a:solidFill>
              </a:rPr>
              <a:t>→ Priorizar alto volume antes de qualquer outra ação.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4626864" y="3265149"/>
            <a:ext cx="4315968" cy="810000"/>
          </a:xfrm>
          <a:prstGeom prst="roundRect">
            <a:avLst>
              <a:gd name="adj" fmla="val 4521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24" name="Shape 122"/>
          <p:cNvSpPr/>
          <p:nvPr/>
        </p:nvSpPr>
        <p:spPr>
          <a:xfrm>
            <a:off x="4626864" y="3265149"/>
            <a:ext cx="54864" cy="810000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736592" y="3310869"/>
            <a:ext cx="4169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50" dirty="0">
                <a:solidFill>
                  <a:srgbClr val="1B5EA8"/>
                </a:solidFill>
              </a:rPr>
              <a:t>Correlação moderada · r = 0.33 – principal driver de </a:t>
            </a:r>
            <a:r>
              <a:rPr lang="en-US" sz="700" b="1" kern="0" spc="50" dirty="0" err="1">
                <a:solidFill>
                  <a:srgbClr val="1B5EA8"/>
                </a:solidFill>
              </a:rPr>
              <a:t>risco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736592" y="3448029"/>
            <a:ext cx="4169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4736592" y="3664704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 err="1">
                <a:solidFill>
                  <a:srgbClr val="444444"/>
                </a:solidFill>
              </a:rPr>
              <a:t>Reduz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latência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em</a:t>
            </a:r>
            <a:r>
              <a:rPr lang="en-US" sz="750" dirty="0">
                <a:solidFill>
                  <a:srgbClr val="444444"/>
                </a:solidFill>
              </a:rPr>
              <a:t> 20% </a:t>
            </a:r>
            <a:r>
              <a:rPr lang="en-US" sz="750" dirty="0" err="1">
                <a:solidFill>
                  <a:srgbClr val="444444"/>
                </a:solidFill>
              </a:rPr>
              <a:t>economiza</a:t>
            </a:r>
            <a:r>
              <a:rPr lang="en-US" sz="750" dirty="0">
                <a:solidFill>
                  <a:srgbClr val="444444"/>
                </a:solidFill>
              </a:rPr>
              <a:t> R$ 37.253/</a:t>
            </a:r>
            <a:r>
              <a:rPr lang="en-US" sz="750" dirty="0" err="1">
                <a:solidFill>
                  <a:srgbClr val="444444"/>
                </a:solidFill>
              </a:rPr>
              <a:t>mês</a:t>
            </a:r>
            <a:r>
              <a:rPr lang="en-US" sz="750" dirty="0">
                <a:solidFill>
                  <a:srgbClr val="444444"/>
                </a:solidFill>
              </a:rPr>
              <a:t> (43% do </a:t>
            </a:r>
            <a:r>
              <a:rPr lang="en-US" sz="750" dirty="0" err="1">
                <a:solidFill>
                  <a:srgbClr val="444444"/>
                </a:solidFill>
              </a:rPr>
              <a:t>custo</a:t>
            </a:r>
            <a:r>
              <a:rPr lang="en-US" sz="750" dirty="0">
                <a:solidFill>
                  <a:srgbClr val="444444"/>
                </a:solidFill>
              </a:rPr>
              <a:t> total). </a:t>
            </a:r>
            <a:r>
              <a:rPr lang="en-US" sz="750" dirty="0" err="1">
                <a:solidFill>
                  <a:srgbClr val="444444"/>
                </a:solidFill>
              </a:rPr>
              <a:t>É</a:t>
            </a:r>
            <a:r>
              <a:rPr lang="en-US" sz="750" dirty="0">
                <a:solidFill>
                  <a:srgbClr val="444444"/>
                </a:solidFill>
              </a:rPr>
              <a:t> 330x </a:t>
            </a:r>
            <a:r>
              <a:rPr lang="en-US" sz="750" dirty="0" err="1">
                <a:solidFill>
                  <a:srgbClr val="444444"/>
                </a:solidFill>
              </a:rPr>
              <a:t>maior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que</a:t>
            </a:r>
            <a:r>
              <a:rPr lang="en-US" sz="750" dirty="0">
                <a:solidFill>
                  <a:srgbClr val="444444"/>
                </a:solidFill>
              </a:rPr>
              <a:t> o </a:t>
            </a:r>
            <a:r>
              <a:rPr lang="en-US" sz="750" dirty="0" err="1">
                <a:solidFill>
                  <a:srgbClr val="444444"/>
                </a:solidFill>
              </a:rPr>
              <a:t>ganho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equivalente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em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erros</a:t>
            </a:r>
            <a:r>
              <a:rPr lang="en-US" sz="750" dirty="0">
                <a:solidFill>
                  <a:srgbClr val="444444"/>
                </a:solidFill>
              </a:rPr>
              <a:t>.</a:t>
            </a:r>
            <a:endParaRPr lang="en-US" sz="750" dirty="0"/>
          </a:p>
        </p:txBody>
      </p:sp>
      <p:sp>
        <p:nvSpPr>
          <p:cNvPr id="128" name="Text 126"/>
          <p:cNvSpPr/>
          <p:nvPr/>
        </p:nvSpPr>
        <p:spPr>
          <a:xfrm>
            <a:off x="4736592" y="3912749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1B5EA8"/>
                </a:solidFill>
              </a:rPr>
              <a:t>→ </a:t>
            </a:r>
            <a:r>
              <a:rPr lang="en-US" sz="750" b="1" dirty="0" err="1">
                <a:solidFill>
                  <a:srgbClr val="1B5EA8"/>
                </a:solidFill>
              </a:rPr>
              <a:t>Latência</a:t>
            </a:r>
            <a:r>
              <a:rPr lang="en-US" sz="750" b="1" dirty="0">
                <a:solidFill>
                  <a:srgbClr val="1B5EA8"/>
                </a:solidFill>
              </a:rPr>
              <a:t> </a:t>
            </a:r>
            <a:r>
              <a:rPr lang="en-US" sz="750" b="1" dirty="0" err="1">
                <a:solidFill>
                  <a:srgbClr val="1B5EA8"/>
                </a:solidFill>
              </a:rPr>
              <a:t>primeiro</a:t>
            </a:r>
            <a:r>
              <a:rPr lang="en-US" sz="750" b="1" dirty="0">
                <a:solidFill>
                  <a:srgbClr val="1B5EA8"/>
                </a:solidFill>
              </a:rPr>
              <a:t> – </a:t>
            </a:r>
            <a:r>
              <a:rPr lang="en-US" sz="750" b="1" dirty="0" err="1">
                <a:solidFill>
                  <a:srgbClr val="1B5EA8"/>
                </a:solidFill>
              </a:rPr>
              <a:t>retorno</a:t>
            </a:r>
            <a:r>
              <a:rPr lang="en-US" sz="750" b="1" dirty="0">
                <a:solidFill>
                  <a:srgbClr val="1B5EA8"/>
                </a:solidFill>
              </a:rPr>
              <a:t> 330x superior </a:t>
            </a:r>
            <a:r>
              <a:rPr lang="en-US" sz="750" b="1" dirty="0" err="1">
                <a:solidFill>
                  <a:srgbClr val="1B5EA8"/>
                </a:solidFill>
              </a:rPr>
              <a:t>que</a:t>
            </a:r>
            <a:r>
              <a:rPr lang="en-US" sz="750" b="1" dirty="0">
                <a:solidFill>
                  <a:srgbClr val="1B5EA8"/>
                </a:solidFill>
              </a:rPr>
              <a:t> </a:t>
            </a:r>
            <a:r>
              <a:rPr lang="en-US" sz="750" b="1" dirty="0" err="1">
                <a:solidFill>
                  <a:srgbClr val="1B5EA8"/>
                </a:solidFill>
              </a:rPr>
              <a:t>redução</a:t>
            </a:r>
            <a:r>
              <a:rPr lang="en-US" sz="750" b="1" dirty="0">
                <a:solidFill>
                  <a:srgbClr val="1B5EA8"/>
                </a:solidFill>
              </a:rPr>
              <a:t> de </a:t>
            </a:r>
            <a:r>
              <a:rPr lang="en-US" sz="750" b="1" dirty="0" err="1">
                <a:solidFill>
                  <a:srgbClr val="1B5EA8"/>
                </a:solidFill>
              </a:rPr>
              <a:t>erros</a:t>
            </a:r>
            <a:r>
              <a:rPr lang="en-US" sz="750" b="1" dirty="0">
                <a:solidFill>
                  <a:srgbClr val="1B5EA8"/>
                </a:solidFill>
              </a:rPr>
              <a:t>.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4626864" y="4141350"/>
            <a:ext cx="4315968" cy="810000"/>
          </a:xfrm>
          <a:prstGeom prst="roundRect">
            <a:avLst>
              <a:gd name="adj" fmla="val 5950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30" name="Shape 128"/>
          <p:cNvSpPr/>
          <p:nvPr/>
        </p:nvSpPr>
        <p:spPr>
          <a:xfrm>
            <a:off x="4626864" y="4141350"/>
            <a:ext cx="54864" cy="810000"/>
          </a:xfrm>
          <a:prstGeom prst="rect">
            <a:avLst/>
          </a:prstGeom>
          <a:solidFill>
            <a:srgbClr val="1A6B3A"/>
          </a:solidFill>
          <a:ln w="12700">
            <a:noFill/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736592" y="4187070"/>
            <a:ext cx="41696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50" dirty="0">
                <a:solidFill>
                  <a:srgbClr val="1A6B3A"/>
                </a:solidFill>
              </a:rPr>
              <a:t>Insight </a:t>
            </a:r>
            <a:r>
              <a:rPr lang="en-US" sz="700" b="1" kern="0" spc="50" dirty="0" err="1">
                <a:solidFill>
                  <a:srgbClr val="1A6B3A"/>
                </a:solidFill>
              </a:rPr>
              <a:t>estrutural</a:t>
            </a:r>
            <a:r>
              <a:rPr lang="en-US" sz="700" b="1" kern="0" spc="50" dirty="0">
                <a:solidFill>
                  <a:srgbClr val="1A6B3A"/>
                </a:solidFill>
              </a:rPr>
              <a:t> · 30 APIs </a:t>
            </a:r>
            <a:r>
              <a:rPr lang="en-US" sz="700" b="1" kern="0" spc="50" dirty="0" err="1">
                <a:solidFill>
                  <a:srgbClr val="1A6B3A"/>
                </a:solidFill>
              </a:rPr>
              <a:t>externas</a:t>
            </a:r>
            <a:r>
              <a:rPr lang="en-US" sz="700" b="1" kern="0" spc="50" dirty="0">
                <a:solidFill>
                  <a:srgbClr val="1A6B3A"/>
                </a:solidFill>
              </a:rPr>
              <a:t> </a:t>
            </a:r>
            <a:r>
              <a:rPr lang="en-US" sz="700" b="1" kern="0" spc="50" dirty="0" err="1">
                <a:solidFill>
                  <a:srgbClr val="1A6B3A"/>
                </a:solidFill>
              </a:rPr>
              <a:t>em</a:t>
            </a:r>
            <a:r>
              <a:rPr lang="en-US" sz="700" b="1" kern="0" spc="50" dirty="0">
                <a:solidFill>
                  <a:srgbClr val="1A6B3A"/>
                </a:solidFill>
              </a:rPr>
              <a:t> CRÍTICO</a:t>
            </a:r>
          </a:p>
        </p:txBody>
      </p:sp>
      <p:sp>
        <p:nvSpPr>
          <p:cNvPr id="132" name="Text 130"/>
          <p:cNvSpPr/>
          <p:nvPr/>
        </p:nvSpPr>
        <p:spPr>
          <a:xfrm>
            <a:off x="4736592" y="4324230"/>
            <a:ext cx="4169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</a:t>
            </a:r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regulatório</a:t>
            </a: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de </a:t>
            </a:r>
            <a:r>
              <a:rPr lang="en-US" sz="10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4736592" y="4529332"/>
            <a:ext cx="4169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Cluster CRÍTICAS_DE_NEGÓCIO com 30 APIs </a:t>
            </a:r>
            <a:r>
              <a:rPr lang="en-US" sz="750" dirty="0" err="1">
                <a:solidFill>
                  <a:srgbClr val="444444"/>
                </a:solidFill>
              </a:rPr>
              <a:t>externas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em</a:t>
            </a:r>
            <a:r>
              <a:rPr lang="en-US" sz="750" dirty="0">
                <a:solidFill>
                  <a:srgbClr val="444444"/>
                </a:solidFill>
              </a:rPr>
              <a:t> alto </a:t>
            </a:r>
            <a:r>
              <a:rPr lang="en-US" sz="750" dirty="0" err="1">
                <a:solidFill>
                  <a:srgbClr val="444444"/>
                </a:solidFill>
              </a:rPr>
              <a:t>risco</a:t>
            </a:r>
            <a:r>
              <a:rPr lang="en-US" sz="750" dirty="0">
                <a:solidFill>
                  <a:srgbClr val="444444"/>
                </a:solidFill>
              </a:rPr>
              <a:t>. </a:t>
            </a:r>
            <a:r>
              <a:rPr lang="en-US" sz="750" dirty="0" err="1">
                <a:solidFill>
                  <a:srgbClr val="444444"/>
                </a:solidFill>
              </a:rPr>
              <a:t>Custo</a:t>
            </a:r>
            <a:r>
              <a:rPr lang="en-US" sz="750" dirty="0">
                <a:solidFill>
                  <a:srgbClr val="444444"/>
                </a:solidFill>
              </a:rPr>
              <a:t> R$ 498/</a:t>
            </a:r>
            <a:r>
              <a:rPr lang="en-US" sz="750" dirty="0" err="1">
                <a:solidFill>
                  <a:srgbClr val="444444"/>
                </a:solidFill>
              </a:rPr>
              <a:t>mês</a:t>
            </a:r>
            <a:r>
              <a:rPr lang="en-US" sz="750" dirty="0">
                <a:solidFill>
                  <a:srgbClr val="444444"/>
                </a:solidFill>
              </a:rPr>
              <a:t>, ams </a:t>
            </a:r>
            <a:r>
              <a:rPr lang="en-US" sz="750" dirty="0" err="1">
                <a:solidFill>
                  <a:srgbClr val="444444"/>
                </a:solidFill>
              </a:rPr>
              <a:t>impacto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reputacional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é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desproporcional</a:t>
            </a:r>
            <a:endParaRPr lang="en-US" sz="750" dirty="0"/>
          </a:p>
        </p:txBody>
      </p:sp>
      <p:sp>
        <p:nvSpPr>
          <p:cNvPr id="134" name="Text 132"/>
          <p:cNvSpPr/>
          <p:nvPr/>
        </p:nvSpPr>
        <p:spPr>
          <a:xfrm>
            <a:off x="4736592" y="4783163"/>
            <a:ext cx="41696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dirty="0">
                <a:solidFill>
                  <a:srgbClr val="1A6B3A"/>
                </a:solidFill>
              </a:rPr>
              <a:t>→ Tratar externals </a:t>
            </a:r>
            <a:r>
              <a:rPr lang="en-US" sz="750" b="1" dirty="0" err="1">
                <a:solidFill>
                  <a:srgbClr val="1A6B3A"/>
                </a:solidFill>
              </a:rPr>
              <a:t>em</a:t>
            </a:r>
            <a:r>
              <a:rPr lang="en-US" sz="750" b="1" dirty="0">
                <a:solidFill>
                  <a:srgbClr val="1A6B3A"/>
                </a:solidFill>
              </a:rPr>
              <a:t> sprint </a:t>
            </a:r>
            <a:r>
              <a:rPr lang="en-US" sz="750" b="1" dirty="0" err="1">
                <a:solidFill>
                  <a:srgbClr val="1A6B3A"/>
                </a:solidFill>
              </a:rPr>
              <a:t>dedicado</a:t>
            </a:r>
            <a:r>
              <a:rPr lang="en-US" sz="750" b="1" dirty="0">
                <a:solidFill>
                  <a:srgbClr val="1A6B3A"/>
                </a:solidFill>
              </a:rPr>
              <a:t> – </a:t>
            </a:r>
            <a:r>
              <a:rPr lang="en-US" sz="750" b="1" dirty="0" err="1">
                <a:solidFill>
                  <a:srgbClr val="1A6B3A"/>
                </a:solidFill>
              </a:rPr>
              <a:t>risco</a:t>
            </a:r>
            <a:r>
              <a:rPr lang="en-US" sz="750" b="1" dirty="0">
                <a:solidFill>
                  <a:srgbClr val="1A6B3A"/>
                </a:solidFill>
              </a:rPr>
              <a:t> &gt; </a:t>
            </a:r>
            <a:r>
              <a:rPr lang="en-US" sz="750" b="1" dirty="0" err="1">
                <a:solidFill>
                  <a:srgbClr val="1A6B3A"/>
                </a:solidFill>
              </a:rPr>
              <a:t>custo</a:t>
            </a:r>
            <a:r>
              <a:rPr lang="en-US" sz="750" b="1" dirty="0">
                <a:solidFill>
                  <a:srgbClr val="1A6B3A"/>
                </a:solidFill>
              </a:rPr>
              <a:t> infra.</a:t>
            </a:r>
            <a:endParaRPr lang="en-US" sz="750" dirty="0"/>
          </a:p>
        </p:txBody>
      </p:sp>
      <p:sp>
        <p:nvSpPr>
          <p:cNvPr id="135" name="Text 133"/>
          <p:cNvSpPr/>
          <p:nvPr/>
        </p:nvSpPr>
        <p:spPr>
          <a:xfrm>
            <a:off x="4626864" y="5419170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50" dirty="0">
                <a:solidFill>
                  <a:srgbClr val="003D7D"/>
                </a:solidFill>
              </a:rPr>
              <a:t>REDUÇÃO DE LATÊNCIA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6821424" y="5419170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50" dirty="0">
                <a:solidFill>
                  <a:srgbClr val="EC7000"/>
                </a:solidFill>
              </a:rPr>
              <a:t>REDUÇÃO DE TAXA DE ERRO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4626864" y="6406722"/>
            <a:ext cx="4315968" cy="256032"/>
          </a:xfrm>
          <a:prstGeom prst="roundRect">
            <a:avLst/>
          </a:prstGeom>
          <a:solidFill>
            <a:srgbClr val="283FFE"/>
          </a:solidFill>
          <a:ln w="12700">
            <a:noFill/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622430" y="6406722"/>
            <a:ext cx="43204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>
                <a:solidFill>
                  <a:schemeClr val="bg1"/>
                </a:solidFill>
              </a:rPr>
              <a:t>💡  Foco </a:t>
            </a:r>
            <a:r>
              <a:rPr lang="en-US" sz="800" b="1" dirty="0" err="1">
                <a:solidFill>
                  <a:schemeClr val="bg1"/>
                </a:solidFill>
              </a:rPr>
              <a:t>em</a:t>
            </a:r>
            <a:r>
              <a:rPr lang="en-US" sz="800" b="1" dirty="0">
                <a:solidFill>
                  <a:schemeClr val="bg1"/>
                </a:solidFill>
              </a:rPr>
              <a:t> </a:t>
            </a:r>
            <a:r>
              <a:rPr lang="en-US" sz="800" b="1" dirty="0" err="1">
                <a:solidFill>
                  <a:schemeClr val="bg1"/>
                </a:solidFill>
              </a:rPr>
              <a:t>latência</a:t>
            </a:r>
            <a:r>
              <a:rPr lang="en-US" sz="800" b="1" dirty="0">
                <a:solidFill>
                  <a:schemeClr val="bg1"/>
                </a:solidFill>
              </a:rPr>
              <a:t>: -20% </a:t>
            </a:r>
            <a:r>
              <a:rPr lang="en-US" sz="800" b="1" dirty="0" err="1">
                <a:solidFill>
                  <a:schemeClr val="bg1"/>
                </a:solidFill>
              </a:rPr>
              <a:t>economiza</a:t>
            </a:r>
            <a:r>
              <a:rPr lang="en-US" sz="800" b="1" dirty="0">
                <a:solidFill>
                  <a:schemeClr val="bg1"/>
                </a:solidFill>
              </a:rPr>
              <a:t> R$ 37.253/</a:t>
            </a:r>
            <a:r>
              <a:rPr lang="en-US" sz="800" b="1" dirty="0" err="1">
                <a:solidFill>
                  <a:schemeClr val="bg1"/>
                </a:solidFill>
              </a:rPr>
              <a:t>mês</a:t>
            </a:r>
            <a:r>
              <a:rPr lang="en-US" sz="800" b="1" dirty="0">
                <a:solidFill>
                  <a:schemeClr val="bg1"/>
                </a:solidFill>
              </a:rPr>
              <a:t> = 43% do </a:t>
            </a:r>
            <a:r>
              <a:rPr lang="en-US" sz="800" b="1" dirty="0" err="1">
                <a:solidFill>
                  <a:schemeClr val="bg1"/>
                </a:solidFill>
              </a:rPr>
              <a:t>custo</a:t>
            </a:r>
            <a:r>
              <a:rPr lang="en-US" sz="800" b="1" dirty="0">
                <a:solidFill>
                  <a:schemeClr val="bg1"/>
                </a:solidFill>
              </a:rPr>
              <a:t> total – 330x </a:t>
            </a:r>
            <a:r>
              <a:rPr lang="en-US" sz="800" b="1" dirty="0" err="1">
                <a:solidFill>
                  <a:schemeClr val="bg1"/>
                </a:solidFill>
              </a:rPr>
              <a:t>maior</a:t>
            </a:r>
            <a:r>
              <a:rPr lang="en-US" sz="800" b="1" dirty="0">
                <a:solidFill>
                  <a:schemeClr val="bg1"/>
                </a:solidFill>
              </a:rPr>
              <a:t> </a:t>
            </a:r>
            <a:r>
              <a:rPr lang="en-US" sz="800" b="1" dirty="0" err="1">
                <a:solidFill>
                  <a:schemeClr val="bg1"/>
                </a:solidFill>
              </a:rPr>
              <a:t>impacto</a:t>
            </a:r>
            <a:r>
              <a:rPr lang="en-US" sz="800" b="1" dirty="0">
                <a:solidFill>
                  <a:schemeClr val="bg1"/>
                </a:solidFill>
              </a:rPr>
              <a:t> </a:t>
            </a:r>
            <a:r>
              <a:rPr lang="en-US" sz="800" b="1" dirty="0" err="1">
                <a:solidFill>
                  <a:schemeClr val="bg1"/>
                </a:solidFill>
              </a:rPr>
              <a:t>que</a:t>
            </a:r>
            <a:r>
              <a:rPr lang="en-US" sz="800" b="1" dirty="0">
                <a:solidFill>
                  <a:schemeClr val="bg1"/>
                </a:solidFill>
              </a:rPr>
              <a:t> </a:t>
            </a:r>
            <a:r>
              <a:rPr lang="en-US" sz="800" b="1" dirty="0" err="1">
                <a:solidFill>
                  <a:schemeClr val="bg1"/>
                </a:solidFill>
              </a:rPr>
              <a:t>redução</a:t>
            </a:r>
            <a:r>
              <a:rPr lang="en-US" sz="800" b="1" dirty="0">
                <a:solidFill>
                  <a:schemeClr val="bg1"/>
                </a:solidFill>
              </a:rPr>
              <a:t> de </a:t>
            </a:r>
            <a:r>
              <a:rPr lang="en-US" sz="800" b="1" dirty="0" err="1">
                <a:solidFill>
                  <a:schemeClr val="bg1"/>
                </a:solidFill>
              </a:rPr>
              <a:t>erros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201168" y="8196231"/>
            <a:ext cx="45720" cy="20116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92608" y="8196231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EC7000"/>
                </a:solidFill>
              </a:rPr>
              <a:t>COMO CHEGAMOS AQUI — SCORE DE RISCO MULTICRITÉRIO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201168" y="8452263"/>
            <a:ext cx="2123694" cy="1078992"/>
          </a:xfrm>
          <a:prstGeom prst="roundRect">
            <a:avLst>
              <a:gd name="adj" fmla="val 2949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65" name="Shape 163"/>
          <p:cNvSpPr/>
          <p:nvPr/>
        </p:nvSpPr>
        <p:spPr>
          <a:xfrm>
            <a:off x="201168" y="8452263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noFill/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10896" y="8516271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C0392B"/>
                </a:solidFill>
              </a:rPr>
              <a:t>PERFORMANCE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310896" y="8653431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de resposta</a:t>
            </a:r>
            <a:endParaRPr lang="en-US" sz="1050" dirty="0"/>
          </a:p>
        </p:txBody>
      </p:sp>
      <p:sp>
        <p:nvSpPr>
          <p:cNvPr id="168" name="Text 166"/>
          <p:cNvSpPr/>
          <p:nvPr/>
        </p:nvSpPr>
        <p:spPr>
          <a:xfrm>
            <a:off x="310896" y="8789947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Tempo médio (ms). Limiar crítico acima do P50 do portfólio — 9.120ms. APIs lentas degradam experiência e aumentam risco composto.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310896" y="9330087"/>
            <a:ext cx="1922526" cy="146304"/>
          </a:xfrm>
          <a:prstGeom prst="rect">
            <a:avLst/>
          </a:prstGeom>
          <a:solidFill>
            <a:srgbClr val="FDEDEB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10896" y="9330087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0392B"/>
                </a:solidFill>
              </a:rPr>
              <a:t>CRÍTICO &gt; 9.120ms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407158" y="8452263"/>
            <a:ext cx="2123694" cy="1078992"/>
          </a:xfrm>
          <a:prstGeom prst="roundRect">
            <a:avLst>
              <a:gd name="adj" fmla="val 4169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72" name="Shape 170"/>
          <p:cNvSpPr/>
          <p:nvPr/>
        </p:nvSpPr>
        <p:spPr>
          <a:xfrm>
            <a:off x="2407158" y="8452263"/>
            <a:ext cx="54864" cy="1078992"/>
          </a:xfrm>
          <a:prstGeom prst="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516886" y="8516271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EC7000"/>
                </a:solidFill>
              </a:rPr>
              <a:t>TAXA DE ERRO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516886" y="8653431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por requisição</a:t>
            </a:r>
            <a:endParaRPr lang="en-US" sz="1050" dirty="0"/>
          </a:p>
        </p:txBody>
      </p:sp>
      <p:sp>
        <p:nvSpPr>
          <p:cNvPr id="175" name="Text 173"/>
          <p:cNvSpPr/>
          <p:nvPr/>
        </p:nvSpPr>
        <p:spPr>
          <a:xfrm>
            <a:off x="2516886" y="8789947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% de chamadas com erro. Limiar ATENÇÃO ≥1%, CRÍTICO &gt;27,6% (P75). Cada erro é custo sem retorno — desperdício direto de R$.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516886" y="9330087"/>
            <a:ext cx="1922526" cy="146304"/>
          </a:xfrm>
          <a:prstGeom prst="rect">
            <a:avLst/>
          </a:prstGeom>
          <a:solidFill>
            <a:srgbClr val="FEF0E6"/>
          </a:solidFill>
          <a:ln w="5080">
            <a:solidFill>
              <a:srgbClr val="EC700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2516886" y="9330087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D45A00"/>
                </a:solidFill>
              </a:rPr>
              <a:t>CRÍTICO &gt; 27,6%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4613148" y="8452263"/>
            <a:ext cx="2123694" cy="1078992"/>
          </a:xfrm>
          <a:prstGeom prst="roundRect">
            <a:avLst>
              <a:gd name="adj" fmla="val 2644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79" name="Shape 177"/>
          <p:cNvSpPr/>
          <p:nvPr/>
        </p:nvSpPr>
        <p:spPr>
          <a:xfrm>
            <a:off x="4613148" y="8452263"/>
            <a:ext cx="54864" cy="1078992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722876" y="8516271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1B5EA8"/>
                </a:solidFill>
              </a:rPr>
              <a:t>MATURIDADE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4722876" y="8653431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release</a:t>
            </a:r>
            <a:endParaRPr lang="en-US" sz="1050" dirty="0"/>
          </a:p>
        </p:txBody>
      </p:sp>
      <p:sp>
        <p:nvSpPr>
          <p:cNvPr id="182" name="Text 180"/>
          <p:cNvSpPr/>
          <p:nvPr/>
        </p:nvSpPr>
        <p:spPr>
          <a:xfrm>
            <a:off x="4722876" y="8789947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Tempo nas fases New → Pre-Released → Released. Ciclos longos = risco de instabilidade operacional e dívida técnica acumulada.</a:t>
            </a:r>
            <a:endParaRPr lang="en-US" sz="700" dirty="0"/>
          </a:p>
        </p:txBody>
      </p:sp>
      <p:sp>
        <p:nvSpPr>
          <p:cNvPr id="183" name="Shape 181"/>
          <p:cNvSpPr/>
          <p:nvPr/>
        </p:nvSpPr>
        <p:spPr>
          <a:xfrm>
            <a:off x="4722876" y="9330087"/>
            <a:ext cx="1922526" cy="146304"/>
          </a:xfrm>
          <a:prstGeom prst="rect">
            <a:avLst/>
          </a:prstGeom>
          <a:solidFill>
            <a:srgbClr val="E8F0FA"/>
          </a:solidFill>
          <a:ln w="5080">
            <a:solidFill>
              <a:srgbClr val="1B5EA8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722876" y="9330087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003D7D"/>
                </a:solidFill>
              </a:rPr>
              <a:t>YD3: 363 dias em New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6819138" y="8452263"/>
            <a:ext cx="2123694" cy="1078992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86" name="Shape 184"/>
          <p:cNvSpPr/>
          <p:nvPr/>
        </p:nvSpPr>
        <p:spPr>
          <a:xfrm>
            <a:off x="6819138" y="8452263"/>
            <a:ext cx="54864" cy="1078992"/>
          </a:xfrm>
          <a:prstGeom prst="rect">
            <a:avLst/>
          </a:prstGeom>
          <a:solidFill>
            <a:srgbClr val="1A6B3A"/>
          </a:solidFill>
          <a:ln w="12700">
            <a:noFill/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928866" y="8516271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1A6B3A"/>
                </a:solidFill>
              </a:rPr>
              <a:t>CUSTO &amp; EFICIÊNCIA</a:t>
            </a:r>
            <a:endParaRPr lang="en-US" sz="700" dirty="0"/>
          </a:p>
        </p:txBody>
      </p:sp>
      <p:sp>
        <p:nvSpPr>
          <p:cNvPr id="188" name="Text 186"/>
          <p:cNvSpPr/>
          <p:nvPr/>
        </p:nvSpPr>
        <p:spPr>
          <a:xfrm>
            <a:off x="6928866" y="8653431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financeiro</a:t>
            </a:r>
            <a:endParaRPr lang="en-US" sz="1050" dirty="0"/>
          </a:p>
        </p:txBody>
      </p:sp>
      <p:sp>
        <p:nvSpPr>
          <p:cNvPr id="189" name="Text 187"/>
          <p:cNvSpPr/>
          <p:nvPr/>
        </p:nvSpPr>
        <p:spPr>
          <a:xfrm>
            <a:off x="6928866" y="8789947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Custo mensal e % de desperdício por erros. Outliers acima de R$11,60/mês recebem classificação CRÍTICO. Peso 1,5 no score.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6928866" y="9330087"/>
            <a:ext cx="1922526" cy="146304"/>
          </a:xfrm>
          <a:prstGeom prst="rect">
            <a:avLst/>
          </a:prstGeom>
          <a:solidFill>
            <a:srgbClr val="EAF5EE"/>
          </a:solidFill>
          <a:ln w="5080">
            <a:solidFill>
              <a:srgbClr val="1A6B3A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928866" y="9330087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1A6B3A"/>
                </a:solidFill>
              </a:rPr>
              <a:t>CRÍTICO &gt; R$11,60/mês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201168" y="9647782"/>
            <a:ext cx="8741664" cy="256032"/>
          </a:xfrm>
          <a:prstGeom prst="roundRect">
            <a:avLst/>
          </a:prstGeom>
          <a:solidFill>
            <a:srgbClr val="283FFE"/>
          </a:solidFill>
          <a:ln w="12700">
            <a:noFill/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01168" y="9647782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</a:rPr>
              <a:t>SCORE FINAL = (Performance × 2,0) + (Taxa de Erro × 2,0) + (Maturidade × 1,5) + (Custo × 1,5)   →   ALTO ≥ 3,5   |   CRÍTICO ≥ 5,0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4" name="Shape 192"/>
          <p:cNvSpPr/>
          <p:nvPr/>
        </p:nvSpPr>
        <p:spPr>
          <a:xfrm>
            <a:off x="201168" y="10107062"/>
            <a:ext cx="45720" cy="20116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92608" y="1010706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F36203"/>
                </a:solidFill>
              </a:rPr>
              <a:t>API HEALTH INTELLIGENCE PLATFORM — PRÓXIMOS PASSOS</a:t>
            </a:r>
            <a:endParaRPr lang="en-US" sz="750" dirty="0">
              <a:solidFill>
                <a:srgbClr val="F36203"/>
              </a:solidFill>
            </a:endParaRPr>
          </a:p>
        </p:txBody>
      </p:sp>
      <p:sp>
        <p:nvSpPr>
          <p:cNvPr id="196" name="Shape 194"/>
          <p:cNvSpPr/>
          <p:nvPr/>
        </p:nvSpPr>
        <p:spPr>
          <a:xfrm>
            <a:off x="201168" y="10382972"/>
            <a:ext cx="2935224" cy="804672"/>
          </a:xfrm>
          <a:prstGeom prst="roundRect">
            <a:avLst>
              <a:gd name="adj" fmla="val 5592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197" name="Shape 195"/>
          <p:cNvSpPr/>
          <p:nvPr/>
        </p:nvSpPr>
        <p:spPr>
          <a:xfrm>
            <a:off x="201168" y="10373833"/>
            <a:ext cx="2929382" cy="45719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292608" y="10474412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Score de Risco Contínuo</a:t>
            </a:r>
            <a:endParaRPr lang="en-US" sz="950" dirty="0"/>
          </a:p>
        </p:txBody>
      </p:sp>
      <p:sp>
        <p:nvSpPr>
          <p:cNvPr id="199" name="Text 197"/>
          <p:cNvSpPr/>
          <p:nvPr/>
        </p:nvSpPr>
        <p:spPr>
          <a:xfrm>
            <a:off x="292608" y="10712156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Recalculado automaticamente por ciclo. Nenhuma API em branco — visibilidade total e priorização baseada em dados, sem esforço manual.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3209544" y="10382972"/>
            <a:ext cx="2935224" cy="804672"/>
          </a:xfrm>
          <a:prstGeom prst="roundRect">
            <a:avLst>
              <a:gd name="adj" fmla="val 6074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01" name="Shape 199"/>
          <p:cNvSpPr/>
          <p:nvPr/>
        </p:nvSpPr>
        <p:spPr>
          <a:xfrm>
            <a:off x="3209544" y="10382972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300984" y="10474412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Agente Autônomo de IA</a:t>
            </a:r>
            <a:endParaRPr lang="en-US" sz="950" dirty="0"/>
          </a:p>
        </p:txBody>
      </p:sp>
      <p:sp>
        <p:nvSpPr>
          <p:cNvPr id="203" name="Text 201"/>
          <p:cNvSpPr/>
          <p:nvPr/>
        </p:nvSpPr>
        <p:spPr>
          <a:xfrm>
            <a:off x="3300984" y="10712156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Detecta degradação em tempo real, cria recomendações e aciona alertas antes que o problema vire incidente ou afete o cliente final.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201168" y="11260796"/>
            <a:ext cx="2935224" cy="804672"/>
          </a:xfrm>
          <a:prstGeom prst="roundRect">
            <a:avLst>
              <a:gd name="adj" fmla="val 6074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05" name="Shape 203"/>
          <p:cNvSpPr/>
          <p:nvPr/>
        </p:nvSpPr>
        <p:spPr>
          <a:xfrm>
            <a:off x="201168" y="11260796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292608" y="11352236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Custo &amp; Desperdício</a:t>
            </a:r>
            <a:endParaRPr lang="en-US" sz="950" dirty="0"/>
          </a:p>
        </p:txBody>
      </p:sp>
      <p:sp>
        <p:nvSpPr>
          <p:cNvPr id="207" name="Text 205"/>
          <p:cNvSpPr/>
          <p:nvPr/>
        </p:nvSpPr>
        <p:spPr>
          <a:xfrm>
            <a:off x="292608" y="11589980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Rastreio de R$ gastos com requisições de erro. ROI de cada ação de melhoria visível em tempo real para toda a liderança.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3209544" y="11260796"/>
            <a:ext cx="2935224" cy="804672"/>
          </a:xfrm>
          <a:prstGeom prst="roundRect">
            <a:avLst>
              <a:gd name="adj" fmla="val 7037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09" name="Shape 207"/>
          <p:cNvSpPr/>
          <p:nvPr/>
        </p:nvSpPr>
        <p:spPr>
          <a:xfrm>
            <a:off x="3209544" y="11260796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3300984" y="11352236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Governança de Release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3300984" y="11589980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Regras automáticas no ciclo New → Pre-Released → Released. 126 APIs com </a:t>
            </a:r>
            <a:r>
              <a:rPr lang="en-US" sz="800" dirty="0" err="1">
                <a:solidFill>
                  <a:srgbClr val="444444"/>
                </a:solidFill>
              </a:rPr>
              <a:t>maturidade</a:t>
            </a:r>
            <a:r>
              <a:rPr lang="en-US" sz="800" dirty="0">
                <a:solidFill>
                  <a:srgbClr val="444444"/>
                </a:solidFill>
              </a:rPr>
              <a:t> </a:t>
            </a:r>
            <a:r>
              <a:rPr lang="en-US" sz="800" dirty="0" err="1">
                <a:solidFill>
                  <a:srgbClr val="444444"/>
                </a:solidFill>
              </a:rPr>
              <a:t>crítica</a:t>
            </a:r>
            <a:r>
              <a:rPr lang="en-US" sz="800" dirty="0">
                <a:solidFill>
                  <a:srgbClr val="444444"/>
                </a:solidFill>
              </a:rPr>
              <a:t> </a:t>
            </a:r>
            <a:r>
              <a:rPr lang="en-US" sz="800" dirty="0" err="1">
                <a:solidFill>
                  <a:srgbClr val="444444"/>
                </a:solidFill>
              </a:rPr>
              <a:t>monitoradas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201168" y="12138620"/>
            <a:ext cx="2935224" cy="804672"/>
          </a:xfrm>
          <a:prstGeom prst="roundRect">
            <a:avLst>
              <a:gd name="adj" fmla="val 6074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13" name="Shape 211"/>
          <p:cNvSpPr/>
          <p:nvPr/>
        </p:nvSpPr>
        <p:spPr>
          <a:xfrm>
            <a:off x="201168" y="12138620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92608" y="12230060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Visão por Sigla / Squad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292608" y="12467804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Agrupamento inteligente por squad, produto ou domínio. Cada time vê seu portfólio — a liderança vê o todo consolidado.</a:t>
            </a:r>
            <a:endParaRPr lang="en-US" sz="800" dirty="0"/>
          </a:p>
        </p:txBody>
      </p:sp>
      <p:sp>
        <p:nvSpPr>
          <p:cNvPr id="216" name="Shape 214"/>
          <p:cNvSpPr/>
          <p:nvPr/>
        </p:nvSpPr>
        <p:spPr>
          <a:xfrm>
            <a:off x="3209544" y="12138620"/>
            <a:ext cx="2935224" cy="804672"/>
          </a:xfrm>
          <a:prstGeom prst="roundRect">
            <a:avLst>
              <a:gd name="adj" fmla="val 7037"/>
            </a:avLst>
          </a:prstGeom>
          <a:solidFill>
            <a:srgbClr val="E8F0FA"/>
          </a:solidFill>
          <a:ln w="5080">
            <a:noFill/>
            <a:prstDash val="solid"/>
          </a:ln>
          <a:effectLst/>
        </p:spPr>
      </p:sp>
      <p:sp>
        <p:nvSpPr>
          <p:cNvPr id="217" name="Shape 215"/>
          <p:cNvSpPr/>
          <p:nvPr/>
        </p:nvSpPr>
        <p:spPr>
          <a:xfrm>
            <a:off x="3209544" y="12138620"/>
            <a:ext cx="2935224" cy="36576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3300984" y="12230060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Long Tail - </a:t>
            </a:r>
            <a:r>
              <a:rPr lang="en-US" sz="950" b="1" dirty="0" err="1">
                <a:solidFill>
                  <a:srgbClr val="00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Descomissionamento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3300984" y="12467804"/>
            <a:ext cx="2807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444444"/>
                </a:solidFill>
              </a:rPr>
              <a:t>126 APIs </a:t>
            </a:r>
            <a:r>
              <a:rPr lang="en-US" sz="800" dirty="0" err="1">
                <a:solidFill>
                  <a:srgbClr val="444444"/>
                </a:solidFill>
              </a:rPr>
              <a:t>candidatas</a:t>
            </a:r>
            <a:r>
              <a:rPr lang="en-US" sz="800" dirty="0">
                <a:solidFill>
                  <a:srgbClr val="444444"/>
                </a:solidFill>
              </a:rPr>
              <a:t> </a:t>
            </a:r>
            <a:r>
              <a:rPr lang="en-US" sz="800" dirty="0" err="1">
                <a:solidFill>
                  <a:srgbClr val="444444"/>
                </a:solidFill>
              </a:rPr>
              <a:t>identificadas</a:t>
            </a:r>
            <a:r>
              <a:rPr lang="en-US" sz="800" dirty="0">
                <a:solidFill>
                  <a:srgbClr val="444444"/>
                </a:solidFill>
              </a:rPr>
              <a:t>. Libera </a:t>
            </a:r>
            <a:r>
              <a:rPr lang="en-US" sz="800" dirty="0" err="1">
                <a:solidFill>
                  <a:srgbClr val="444444"/>
                </a:solidFill>
              </a:rPr>
              <a:t>capacidade</a:t>
            </a:r>
            <a:r>
              <a:rPr lang="en-US" sz="800" dirty="0">
                <a:solidFill>
                  <a:srgbClr val="444444"/>
                </a:solidFill>
              </a:rPr>
              <a:t> </a:t>
            </a:r>
            <a:r>
              <a:rPr lang="en-US" sz="800" dirty="0" err="1">
                <a:solidFill>
                  <a:srgbClr val="444444"/>
                </a:solidFill>
              </a:rPr>
              <a:t>operacional</a:t>
            </a:r>
            <a:r>
              <a:rPr lang="en-US" sz="800" dirty="0">
                <a:solidFill>
                  <a:srgbClr val="444444"/>
                </a:solidFill>
              </a:rPr>
              <a:t> e </a:t>
            </a:r>
            <a:r>
              <a:rPr lang="en-US" sz="800" dirty="0" err="1">
                <a:solidFill>
                  <a:srgbClr val="444444"/>
                </a:solidFill>
              </a:rPr>
              <a:t>reduz</a:t>
            </a:r>
            <a:r>
              <a:rPr lang="en-US" sz="800" dirty="0">
                <a:solidFill>
                  <a:srgbClr val="444444"/>
                </a:solidFill>
              </a:rPr>
              <a:t> custos de </a:t>
            </a:r>
            <a:r>
              <a:rPr lang="en-US" sz="800" dirty="0" err="1">
                <a:solidFill>
                  <a:srgbClr val="444444"/>
                </a:solidFill>
              </a:rPr>
              <a:t>manutenção</a:t>
            </a:r>
            <a:r>
              <a:rPr lang="en-US" sz="800" dirty="0">
                <a:solidFill>
                  <a:srgbClr val="444444"/>
                </a:solidFill>
              </a:rPr>
              <a:t> </a:t>
            </a:r>
            <a:r>
              <a:rPr lang="en-US" sz="800" dirty="0" err="1">
                <a:solidFill>
                  <a:srgbClr val="444444"/>
                </a:solidFill>
              </a:rPr>
              <a:t>desnecessária</a:t>
            </a:r>
            <a:endParaRPr lang="en-US" sz="800" dirty="0"/>
          </a:p>
        </p:txBody>
      </p:sp>
      <p:sp>
        <p:nvSpPr>
          <p:cNvPr id="220" name="Shape 218"/>
          <p:cNvSpPr/>
          <p:nvPr/>
        </p:nvSpPr>
        <p:spPr>
          <a:xfrm>
            <a:off x="201168" y="10107062"/>
            <a:ext cx="45720" cy="201168"/>
          </a:xfrm>
          <a:prstGeom prst="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272784" y="10382972"/>
            <a:ext cx="2670048" cy="1172682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5080">
            <a:solidFill>
              <a:srgbClr val="E8E8E8"/>
            </a:solidFill>
            <a:prstDash val="solid"/>
          </a:ln>
          <a:effectLst/>
        </p:spPr>
      </p:sp>
      <p:sp>
        <p:nvSpPr>
          <p:cNvPr id="223" name="Shape 221"/>
          <p:cNvSpPr/>
          <p:nvPr/>
        </p:nvSpPr>
        <p:spPr>
          <a:xfrm>
            <a:off x="6272784" y="10382972"/>
            <a:ext cx="2670048" cy="274320"/>
          </a:xfrm>
          <a:prstGeom prst="round2SameRect">
            <a:avLst/>
          </a:prstGeom>
          <a:solidFill>
            <a:srgbClr val="C0392B"/>
          </a:solidFill>
          <a:ln w="12700">
            <a:noFill/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345936" y="10428692"/>
            <a:ext cx="182880" cy="182880"/>
          </a:xfrm>
          <a:prstGeom prst="ellipse">
            <a:avLst/>
          </a:prstGeom>
          <a:solidFill>
            <a:srgbClr val="D36D63"/>
          </a:solidFill>
          <a:ln w="5080">
            <a:noFill/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25" name="Text 223"/>
          <p:cNvSpPr/>
          <p:nvPr/>
        </p:nvSpPr>
        <p:spPr>
          <a:xfrm>
            <a:off x="6345936" y="104286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600" dirty="0"/>
          </a:p>
        </p:txBody>
      </p:sp>
      <p:sp>
        <p:nvSpPr>
          <p:cNvPr id="226" name="Text 224"/>
          <p:cNvSpPr/>
          <p:nvPr/>
        </p:nvSpPr>
        <p:spPr>
          <a:xfrm>
            <a:off x="6574536" y="10401260"/>
            <a:ext cx="23225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Semanas 1–4</a:t>
            </a:r>
          </a:p>
        </p:txBody>
      </p:sp>
      <p:sp>
        <p:nvSpPr>
          <p:cNvPr id="227" name="Text 225"/>
          <p:cNvSpPr/>
          <p:nvPr/>
        </p:nvSpPr>
        <p:spPr>
          <a:xfrm>
            <a:off x="6574536" y="10501844"/>
            <a:ext cx="23225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</a:t>
            </a:r>
            <a:endParaRPr lang="en-US" sz="1000" dirty="0"/>
          </a:p>
        </p:txBody>
      </p:sp>
      <p:sp>
        <p:nvSpPr>
          <p:cNvPr id="228" name="Text 226"/>
          <p:cNvSpPr/>
          <p:nvPr/>
        </p:nvSpPr>
        <p:spPr>
          <a:xfrm>
            <a:off x="6364224" y="10675580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Correção das 35 APIs cluster CRÍTICAS</a:t>
            </a:r>
            <a:endParaRPr lang="en-US" sz="750" dirty="0"/>
          </a:p>
        </p:txBody>
      </p:sp>
      <p:sp>
        <p:nvSpPr>
          <p:cNvPr id="229" name="Text 227"/>
          <p:cNvSpPr/>
          <p:nvPr/>
        </p:nvSpPr>
        <p:spPr>
          <a:xfrm>
            <a:off x="6364224" y="1083102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</a:t>
            </a:r>
            <a:r>
              <a:rPr lang="en-US" sz="750" dirty="0" err="1">
                <a:solidFill>
                  <a:srgbClr val="444444"/>
                </a:solidFill>
              </a:rPr>
              <a:t>Focar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nas</a:t>
            </a:r>
            <a:r>
              <a:rPr lang="en-US" sz="750" dirty="0">
                <a:solidFill>
                  <a:srgbClr val="444444"/>
                </a:solidFill>
              </a:rPr>
              <a:t> top 3 custos</a:t>
            </a:r>
            <a:endParaRPr lang="en-US" sz="750" dirty="0"/>
          </a:p>
        </p:txBody>
      </p:sp>
      <p:sp>
        <p:nvSpPr>
          <p:cNvPr id="230" name="Text 228"/>
          <p:cNvSpPr/>
          <p:nvPr/>
        </p:nvSpPr>
        <p:spPr>
          <a:xfrm>
            <a:off x="6364224" y="1098647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SLOs mínimos definidos</a:t>
            </a:r>
            <a:endParaRPr lang="en-US" sz="750" dirty="0"/>
          </a:p>
        </p:txBody>
      </p:sp>
      <p:sp>
        <p:nvSpPr>
          <p:cNvPr id="231" name="Text 229"/>
          <p:cNvSpPr/>
          <p:nvPr/>
        </p:nvSpPr>
        <p:spPr>
          <a:xfrm>
            <a:off x="6364224" y="11141924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</a:t>
            </a:r>
            <a:r>
              <a:rPr lang="en-US" sz="750" dirty="0" err="1">
                <a:solidFill>
                  <a:srgbClr val="444444"/>
                </a:solidFill>
              </a:rPr>
              <a:t>Alertas</a:t>
            </a:r>
            <a:r>
              <a:rPr lang="en-US" sz="750" dirty="0">
                <a:solidFill>
                  <a:srgbClr val="444444"/>
                </a:solidFill>
              </a:rPr>
              <a:t> de </a:t>
            </a:r>
            <a:r>
              <a:rPr lang="en-US" sz="750" dirty="0" err="1">
                <a:solidFill>
                  <a:srgbClr val="444444"/>
                </a:solidFill>
              </a:rPr>
              <a:t>básicos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ativos</a:t>
            </a:r>
            <a:endParaRPr lang="en-US" sz="750" dirty="0"/>
          </a:p>
        </p:txBody>
      </p:sp>
      <p:sp>
        <p:nvSpPr>
          <p:cNvPr id="234" name="Shape 232"/>
          <p:cNvSpPr/>
          <p:nvPr/>
        </p:nvSpPr>
        <p:spPr>
          <a:xfrm>
            <a:off x="6272784" y="11617409"/>
            <a:ext cx="2670048" cy="1170000"/>
          </a:xfrm>
          <a:prstGeom prst="roundRect">
            <a:avLst>
              <a:gd name="adj" fmla="val 3874"/>
            </a:avLst>
          </a:prstGeom>
          <a:solidFill>
            <a:srgbClr val="FFFFFF"/>
          </a:solidFill>
          <a:ln w="5080">
            <a:solidFill>
              <a:srgbClr val="E8E8E8"/>
            </a:solidFill>
            <a:prstDash val="solid"/>
          </a:ln>
          <a:effectLst/>
        </p:spPr>
      </p:sp>
      <p:sp>
        <p:nvSpPr>
          <p:cNvPr id="235" name="Shape 233"/>
          <p:cNvSpPr/>
          <p:nvPr/>
        </p:nvSpPr>
        <p:spPr>
          <a:xfrm>
            <a:off x="6272784" y="11617409"/>
            <a:ext cx="2670048" cy="274320"/>
          </a:xfrm>
          <a:prstGeom prst="round2Same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345936" y="11663129"/>
            <a:ext cx="182880" cy="182880"/>
          </a:xfrm>
          <a:prstGeom prst="ellipse">
            <a:avLst/>
          </a:prstGeom>
          <a:solidFill>
            <a:srgbClr val="F49456"/>
          </a:solidFill>
          <a:ln w="5080">
            <a:noFill/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6345936" y="11663129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750" dirty="0"/>
          </a:p>
        </p:txBody>
      </p:sp>
      <p:sp>
        <p:nvSpPr>
          <p:cNvPr id="238" name="Text 236"/>
          <p:cNvSpPr/>
          <p:nvPr/>
        </p:nvSpPr>
        <p:spPr>
          <a:xfrm>
            <a:off x="6574536" y="11635697"/>
            <a:ext cx="23225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Meses 2–4</a:t>
            </a:r>
          </a:p>
        </p:txBody>
      </p:sp>
      <p:sp>
        <p:nvSpPr>
          <p:cNvPr id="239" name="Text 237"/>
          <p:cNvSpPr/>
          <p:nvPr/>
        </p:nvSpPr>
        <p:spPr>
          <a:xfrm>
            <a:off x="6574536" y="11736281"/>
            <a:ext cx="23225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+ Governança</a:t>
            </a:r>
            <a:endParaRPr lang="en-US" sz="1000" dirty="0"/>
          </a:p>
        </p:txBody>
      </p:sp>
      <p:sp>
        <p:nvSpPr>
          <p:cNvPr id="240" name="Text 238"/>
          <p:cNvSpPr/>
          <p:nvPr/>
        </p:nvSpPr>
        <p:spPr>
          <a:xfrm>
            <a:off x="6364224" y="11910017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Tratamento das 126 APIs cluster ALTO</a:t>
            </a:r>
            <a:endParaRPr lang="en-US" sz="750" dirty="0"/>
          </a:p>
        </p:txBody>
      </p:sp>
      <p:sp>
        <p:nvSpPr>
          <p:cNvPr id="241" name="Text 239"/>
          <p:cNvSpPr/>
          <p:nvPr/>
        </p:nvSpPr>
        <p:spPr>
          <a:xfrm>
            <a:off x="6364224" y="12065465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Score automático por ciclo</a:t>
            </a:r>
            <a:endParaRPr lang="en-US" sz="750" dirty="0"/>
          </a:p>
        </p:txBody>
      </p:sp>
      <p:sp>
        <p:nvSpPr>
          <p:cNvPr id="242" name="Text 240"/>
          <p:cNvSpPr/>
          <p:nvPr/>
        </p:nvSpPr>
        <p:spPr>
          <a:xfrm>
            <a:off x="6364224" y="12220913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Dashboard para liderança</a:t>
            </a:r>
            <a:endParaRPr lang="en-US" sz="750" dirty="0"/>
          </a:p>
        </p:txBody>
      </p:sp>
      <p:sp>
        <p:nvSpPr>
          <p:cNvPr id="243" name="Text 241"/>
          <p:cNvSpPr/>
          <p:nvPr/>
        </p:nvSpPr>
        <p:spPr>
          <a:xfrm>
            <a:off x="6364224" y="12376361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</a:t>
            </a:r>
            <a:r>
              <a:rPr lang="en-US" sz="750" dirty="0" err="1">
                <a:solidFill>
                  <a:srgbClr val="444444"/>
                </a:solidFill>
              </a:rPr>
              <a:t>Iniciar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revisão</a:t>
            </a:r>
            <a:r>
              <a:rPr lang="en-US" sz="750" dirty="0">
                <a:solidFill>
                  <a:srgbClr val="444444"/>
                </a:solidFill>
              </a:rPr>
              <a:t> LONG TAIL (126 APIs)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6272784" y="12858205"/>
            <a:ext cx="2670048" cy="1176257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5080">
            <a:solidFill>
              <a:srgbClr val="E8E8E8"/>
            </a:solidFill>
            <a:prstDash val="solid"/>
          </a:ln>
          <a:effectLst/>
        </p:spPr>
      </p:sp>
      <p:sp>
        <p:nvSpPr>
          <p:cNvPr id="247" name="Shape 245"/>
          <p:cNvSpPr/>
          <p:nvPr/>
        </p:nvSpPr>
        <p:spPr>
          <a:xfrm>
            <a:off x="6272784" y="12858202"/>
            <a:ext cx="2670048" cy="274320"/>
          </a:xfrm>
          <a:prstGeom prst="round2Same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345936" y="12903922"/>
            <a:ext cx="182880" cy="182880"/>
          </a:xfrm>
          <a:prstGeom prst="ellipse">
            <a:avLst/>
          </a:prstGeom>
          <a:solidFill>
            <a:srgbClr val="5886BF"/>
          </a:solidFill>
          <a:ln w="5080">
            <a:noFill/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6574536" y="12876490"/>
            <a:ext cx="23225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Meses 5–12</a:t>
            </a:r>
          </a:p>
        </p:txBody>
      </p:sp>
      <p:sp>
        <p:nvSpPr>
          <p:cNvPr id="251" name="Text 249"/>
          <p:cNvSpPr/>
          <p:nvPr/>
        </p:nvSpPr>
        <p:spPr>
          <a:xfrm>
            <a:off x="6574536" y="12977074"/>
            <a:ext cx="23225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 IA</a:t>
            </a:r>
            <a:endParaRPr lang="en-US" sz="1000" dirty="0"/>
          </a:p>
        </p:txBody>
      </p:sp>
      <p:sp>
        <p:nvSpPr>
          <p:cNvPr id="252" name="Text 250"/>
          <p:cNvSpPr/>
          <p:nvPr/>
        </p:nvSpPr>
        <p:spPr>
          <a:xfrm>
            <a:off x="6364224" y="13150810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Agente autônomo em produção</a:t>
            </a:r>
            <a:endParaRPr lang="en-US" sz="750" dirty="0"/>
          </a:p>
        </p:txBody>
      </p:sp>
      <p:sp>
        <p:nvSpPr>
          <p:cNvPr id="253" name="Text 251"/>
          <p:cNvSpPr/>
          <p:nvPr/>
        </p:nvSpPr>
        <p:spPr>
          <a:xfrm>
            <a:off x="6364224" y="13306258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</a:t>
            </a:r>
            <a:r>
              <a:rPr lang="en-US" sz="750" dirty="0" err="1">
                <a:solidFill>
                  <a:srgbClr val="444444"/>
                </a:solidFill>
              </a:rPr>
              <a:t>Simulador</a:t>
            </a:r>
            <a:r>
              <a:rPr lang="en-US" sz="750" dirty="0">
                <a:solidFill>
                  <a:srgbClr val="444444"/>
                </a:solidFill>
              </a:rPr>
              <a:t> OI de </a:t>
            </a:r>
            <a:r>
              <a:rPr lang="en-US" sz="750" dirty="0" err="1">
                <a:solidFill>
                  <a:srgbClr val="444444"/>
                </a:solidFill>
              </a:rPr>
              <a:t>latência</a:t>
            </a:r>
            <a:r>
              <a:rPr lang="en-US" sz="750" dirty="0">
                <a:solidFill>
                  <a:srgbClr val="444444"/>
                </a:solidFill>
              </a:rPr>
              <a:t> </a:t>
            </a:r>
            <a:r>
              <a:rPr lang="en-US" sz="750" dirty="0" err="1">
                <a:solidFill>
                  <a:srgbClr val="444444"/>
                </a:solidFill>
              </a:rPr>
              <a:t>ativo</a:t>
            </a:r>
            <a:endParaRPr lang="en-US" sz="750" dirty="0"/>
          </a:p>
        </p:txBody>
      </p:sp>
      <p:sp>
        <p:nvSpPr>
          <p:cNvPr id="254" name="Text 252"/>
          <p:cNvSpPr/>
          <p:nvPr/>
        </p:nvSpPr>
        <p:spPr>
          <a:xfrm>
            <a:off x="6364224" y="13461706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</a:t>
            </a:r>
            <a:r>
              <a:rPr lang="en-US" sz="750" dirty="0" err="1">
                <a:solidFill>
                  <a:srgbClr val="444444"/>
                </a:solidFill>
              </a:rPr>
              <a:t>Descomissionamento</a:t>
            </a:r>
            <a:r>
              <a:rPr lang="en-US" sz="750" dirty="0">
                <a:solidFill>
                  <a:srgbClr val="444444"/>
                </a:solidFill>
              </a:rPr>
              <a:t> das 105 long tail</a:t>
            </a:r>
            <a:endParaRPr lang="en-US" sz="750" dirty="0"/>
          </a:p>
        </p:txBody>
      </p:sp>
      <p:sp>
        <p:nvSpPr>
          <p:cNvPr id="255" name="Text 253"/>
          <p:cNvSpPr/>
          <p:nvPr/>
        </p:nvSpPr>
        <p:spPr>
          <a:xfrm>
            <a:off x="6364224" y="13617154"/>
            <a:ext cx="254203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444444"/>
                </a:solidFill>
              </a:rPr>
              <a:t>›  Benchmarking contínuo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201168" y="14193734"/>
            <a:ext cx="8741664" cy="804672"/>
          </a:xfrm>
          <a:prstGeom prst="roundRect">
            <a:avLst>
              <a:gd name="adj" fmla="val 7453"/>
            </a:avLst>
          </a:prstGeom>
          <a:solidFill>
            <a:srgbClr val="283FFE"/>
          </a:solidFill>
          <a:ln w="12700">
            <a:noFill/>
            <a:prstDash val="solid"/>
          </a:ln>
          <a:effectLst/>
        </p:spPr>
      </p:sp>
      <p:sp>
        <p:nvSpPr>
          <p:cNvPr id="259" name="Text 257"/>
          <p:cNvSpPr/>
          <p:nvPr/>
        </p:nvSpPr>
        <p:spPr>
          <a:xfrm>
            <a:off x="329184" y="1425774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necessária: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I1 agora + investimento na Plataforma de Saúde de APIs</a:t>
            </a:r>
            <a:endParaRPr lang="en-US" sz="1200" dirty="0"/>
          </a:p>
        </p:txBody>
      </p:sp>
      <p:sp>
        <p:nvSpPr>
          <p:cNvPr id="260" name="Text 258"/>
          <p:cNvSpPr/>
          <p:nvPr/>
        </p:nvSpPr>
        <p:spPr>
          <a:xfrm>
            <a:off x="329184" y="14468054"/>
            <a:ext cx="6217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chemeClr val="bg1">
                    <a:lumMod val="95000"/>
                  </a:schemeClr>
                </a:solidFill>
              </a:rPr>
              <a:t>Não é observabilidade. É eficiência operacional e confiabilidade como </a:t>
            </a:r>
            <a:r>
              <a:rPr lang="en-US" sz="800" i="1" dirty="0" err="1">
                <a:solidFill>
                  <a:schemeClr val="bg1">
                    <a:lumMod val="95000"/>
                  </a:schemeClr>
                </a:solidFill>
              </a:rPr>
              <a:t>ativo</a:t>
            </a:r>
            <a:r>
              <a:rPr lang="en-US" sz="80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800" i="1" dirty="0" err="1">
                <a:solidFill>
                  <a:schemeClr val="bg1">
                    <a:lumMod val="95000"/>
                  </a:schemeClr>
                </a:solidFill>
              </a:rPr>
              <a:t>estratégico</a:t>
            </a:r>
            <a:r>
              <a:rPr lang="en-US" sz="800" i="1" dirty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1" name="Text 259"/>
          <p:cNvSpPr/>
          <p:nvPr/>
        </p:nvSpPr>
        <p:spPr>
          <a:xfrm>
            <a:off x="329184" y="1466922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36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R$ 37.254</a:t>
            </a:r>
            <a:endParaRPr lang="en-US" sz="1400" dirty="0">
              <a:solidFill>
                <a:srgbClr val="F36203"/>
              </a:solidFill>
            </a:endParaRPr>
          </a:p>
        </p:txBody>
      </p:sp>
      <p:sp>
        <p:nvSpPr>
          <p:cNvPr id="262" name="Text 260"/>
          <p:cNvSpPr/>
          <p:nvPr/>
        </p:nvSpPr>
        <p:spPr>
          <a:xfrm>
            <a:off x="329183" y="14833814"/>
            <a:ext cx="142010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Saving /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mês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com -20% de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latência</a:t>
            </a:r>
            <a:endParaRPr lang="en-US" sz="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3" name="Shape 261"/>
          <p:cNvSpPr/>
          <p:nvPr/>
        </p:nvSpPr>
        <p:spPr>
          <a:xfrm>
            <a:off x="1810512" y="14650934"/>
            <a:ext cx="0" cy="27432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901952" y="1466922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36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APIs</a:t>
            </a:r>
            <a:endParaRPr lang="en-US" sz="1400" dirty="0">
              <a:solidFill>
                <a:srgbClr val="F36203"/>
              </a:solidFill>
            </a:endParaRPr>
          </a:p>
        </p:txBody>
      </p:sp>
      <p:sp>
        <p:nvSpPr>
          <p:cNvPr id="265" name="Text 263"/>
          <p:cNvSpPr/>
          <p:nvPr/>
        </p:nvSpPr>
        <p:spPr>
          <a:xfrm>
            <a:off x="1901952" y="1483381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em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risco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de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incidente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grave</a:t>
            </a:r>
          </a:p>
        </p:txBody>
      </p:sp>
      <p:sp>
        <p:nvSpPr>
          <p:cNvPr id="266" name="Shape 264"/>
          <p:cNvSpPr/>
          <p:nvPr/>
        </p:nvSpPr>
        <p:spPr>
          <a:xfrm>
            <a:off x="3383280" y="14650934"/>
            <a:ext cx="0" cy="27432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3474720" y="1466922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362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APIs</a:t>
            </a:r>
            <a:endParaRPr lang="en-US" sz="1400" dirty="0">
              <a:solidFill>
                <a:srgbClr val="F36203"/>
              </a:solidFill>
            </a:endParaRPr>
          </a:p>
        </p:txBody>
      </p:sp>
      <p:sp>
        <p:nvSpPr>
          <p:cNvPr id="268" name="Text 266"/>
          <p:cNvSpPr/>
          <p:nvPr/>
        </p:nvSpPr>
        <p:spPr>
          <a:xfrm>
            <a:off x="3474719" y="14833814"/>
            <a:ext cx="144183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Candidatas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a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descomissionamento</a:t>
            </a:r>
            <a:endParaRPr lang="en-US" sz="7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9" name="Shape 267"/>
          <p:cNvSpPr/>
          <p:nvPr/>
        </p:nvSpPr>
        <p:spPr>
          <a:xfrm>
            <a:off x="4956048" y="14650934"/>
            <a:ext cx="0" cy="27432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5047488" y="1466922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54,7%</a:t>
            </a:r>
            <a:endParaRPr lang="en-US" sz="1400" dirty="0"/>
          </a:p>
        </p:txBody>
      </p:sp>
      <p:sp>
        <p:nvSpPr>
          <p:cNvPr id="271" name="Text 269"/>
          <p:cNvSpPr/>
          <p:nvPr/>
        </p:nvSpPr>
        <p:spPr>
          <a:xfrm>
            <a:off x="5047488" y="1483381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Custo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em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700" dirty="0" err="1">
                <a:solidFill>
                  <a:schemeClr val="bg1">
                    <a:lumMod val="95000"/>
                  </a:schemeClr>
                </a:solidFill>
              </a:rPr>
              <a:t>apenas</a:t>
            </a:r>
            <a:r>
              <a:rPr lang="en-US" sz="700" dirty="0">
                <a:solidFill>
                  <a:schemeClr val="bg1">
                    <a:lumMod val="95000"/>
                  </a:schemeClr>
                </a:solidFill>
              </a:rPr>
              <a:t> 3 APIs</a:t>
            </a:r>
          </a:p>
        </p:txBody>
      </p:sp>
      <p:sp>
        <p:nvSpPr>
          <p:cNvPr id="274" name="Shape 272"/>
          <p:cNvSpPr/>
          <p:nvPr/>
        </p:nvSpPr>
        <p:spPr>
          <a:xfrm>
            <a:off x="0" y="15228001"/>
            <a:ext cx="9144000" cy="256032"/>
          </a:xfrm>
          <a:prstGeom prst="rect">
            <a:avLst/>
          </a:prstGeom>
          <a:solidFill>
            <a:srgbClr val="283FFE"/>
          </a:solidFill>
          <a:ln w="12700">
            <a:noFill/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182880" y="15228001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chemeClr val="bg1"/>
                </a:solidFill>
              </a:rPr>
              <a:t>Diretoria de Tecnologia  ·  Score multicritério: performance (×2) + erro (×2) + maturidade (×1,5) + custo (×1,5)  ·  323 APIs  ·  Abril 2026</a:t>
            </a:r>
          </a:p>
        </p:txBody>
      </p:sp>
      <p:sp>
        <p:nvSpPr>
          <p:cNvPr id="276" name="Text 274"/>
          <p:cNvSpPr/>
          <p:nvPr/>
        </p:nvSpPr>
        <p:spPr>
          <a:xfrm>
            <a:off x="6858000" y="15228001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750" b="1" kern="0" spc="50" dirty="0">
                <a:solidFill>
                  <a:srgbClr val="F36203"/>
                </a:solidFill>
              </a:rPr>
              <a:t>API HEALTH INTELLIGENCE PLATFORM</a:t>
            </a:r>
            <a:endParaRPr lang="en-US" sz="750" dirty="0">
              <a:solidFill>
                <a:srgbClr val="F36203"/>
              </a:solidFill>
            </a:endParaRPr>
          </a:p>
        </p:txBody>
      </p:sp>
      <p:pic>
        <p:nvPicPr>
          <p:cNvPr id="1028" name="Picture 4" descr="O Itaú é feito de futuro">
            <a:extLst>
              <a:ext uri="{FF2B5EF4-FFF2-40B4-BE49-F238E27FC236}">
                <a16:creationId xmlns:a16="http://schemas.microsoft.com/office/drawing/2014/main" id="{74AB5A51-5EA6-8309-BB64-44FB7F79E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3" t="6009" r="24088" b="6320"/>
          <a:stretch>
            <a:fillRect/>
          </a:stretch>
        </p:blipFill>
        <p:spPr bwMode="auto">
          <a:xfrm>
            <a:off x="8544176" y="65823"/>
            <a:ext cx="436704" cy="4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Shape 11">
            <a:extLst>
              <a:ext uri="{FF2B5EF4-FFF2-40B4-BE49-F238E27FC236}">
                <a16:creationId xmlns:a16="http://schemas.microsoft.com/office/drawing/2014/main" id="{62674BFD-1EB4-BC38-5904-79B8D03613F9}"/>
              </a:ext>
            </a:extLst>
          </p:cNvPr>
          <p:cNvSpPr/>
          <p:nvPr/>
        </p:nvSpPr>
        <p:spPr>
          <a:xfrm>
            <a:off x="2407158" y="1837634"/>
            <a:ext cx="2123694" cy="36576"/>
          </a:xfrm>
          <a:prstGeom prst="roundRect">
            <a:avLst/>
          </a:prstGeom>
          <a:solidFill>
            <a:srgbClr val="C1392A"/>
          </a:solidFill>
          <a:ln w="12700">
            <a:noFill/>
            <a:prstDash val="solid"/>
          </a:ln>
        </p:spPr>
      </p:sp>
      <p:sp>
        <p:nvSpPr>
          <p:cNvPr id="1031" name="Shape 11">
            <a:extLst>
              <a:ext uri="{FF2B5EF4-FFF2-40B4-BE49-F238E27FC236}">
                <a16:creationId xmlns:a16="http://schemas.microsoft.com/office/drawing/2014/main" id="{7A6DB1AD-D8A7-09F4-AD99-6060B57A8491}"/>
              </a:ext>
            </a:extLst>
          </p:cNvPr>
          <p:cNvSpPr/>
          <p:nvPr/>
        </p:nvSpPr>
        <p:spPr>
          <a:xfrm>
            <a:off x="4613148" y="1837634"/>
            <a:ext cx="2123694" cy="36576"/>
          </a:xfrm>
          <a:prstGeom prst="roundRect">
            <a:avLst/>
          </a:prstGeom>
          <a:solidFill>
            <a:srgbClr val="245EA8"/>
          </a:solidFill>
          <a:ln w="12700">
            <a:noFill/>
            <a:prstDash val="solid"/>
          </a:ln>
        </p:spPr>
      </p:sp>
      <p:sp>
        <p:nvSpPr>
          <p:cNvPr id="1032" name="Shape 11">
            <a:extLst>
              <a:ext uri="{FF2B5EF4-FFF2-40B4-BE49-F238E27FC236}">
                <a16:creationId xmlns:a16="http://schemas.microsoft.com/office/drawing/2014/main" id="{B6C49403-AE95-08EA-0C4C-5216C6BCC695}"/>
              </a:ext>
            </a:extLst>
          </p:cNvPr>
          <p:cNvSpPr/>
          <p:nvPr/>
        </p:nvSpPr>
        <p:spPr>
          <a:xfrm>
            <a:off x="6819138" y="1837634"/>
            <a:ext cx="2123694" cy="36576"/>
          </a:xfrm>
          <a:prstGeom prst="roundRect">
            <a:avLst/>
          </a:prstGeom>
          <a:solidFill>
            <a:srgbClr val="19192E"/>
          </a:solidFill>
          <a:ln w="12700">
            <a:noFill/>
            <a:prstDash val="solid"/>
          </a:ln>
        </p:spPr>
      </p:sp>
      <p:sp>
        <p:nvSpPr>
          <p:cNvPr id="1035" name="Shape 30">
            <a:extLst>
              <a:ext uri="{FF2B5EF4-FFF2-40B4-BE49-F238E27FC236}">
                <a16:creationId xmlns:a16="http://schemas.microsoft.com/office/drawing/2014/main" id="{45FDE0A5-FE4F-0C7D-96F6-BD31A918046F}"/>
              </a:ext>
            </a:extLst>
          </p:cNvPr>
          <p:cNvSpPr/>
          <p:nvPr/>
        </p:nvSpPr>
        <p:spPr>
          <a:xfrm>
            <a:off x="4613148" y="5100065"/>
            <a:ext cx="45720" cy="201168"/>
          </a:xfrm>
          <a:prstGeom prst="rect">
            <a:avLst/>
          </a:prstGeom>
          <a:solidFill>
            <a:srgbClr val="F36203"/>
          </a:solidFill>
          <a:ln w="12700">
            <a:noFill/>
            <a:prstDash val="solid"/>
          </a:ln>
        </p:spPr>
      </p:sp>
      <p:sp>
        <p:nvSpPr>
          <p:cNvPr id="1036" name="Text 31">
            <a:extLst>
              <a:ext uri="{FF2B5EF4-FFF2-40B4-BE49-F238E27FC236}">
                <a16:creationId xmlns:a16="http://schemas.microsoft.com/office/drawing/2014/main" id="{BB0B0C02-CAB7-83FE-1C3B-BD1E9BF8D8F1}"/>
              </a:ext>
            </a:extLst>
          </p:cNvPr>
          <p:cNvSpPr/>
          <p:nvPr/>
        </p:nvSpPr>
        <p:spPr>
          <a:xfrm>
            <a:off x="4704592" y="5100065"/>
            <a:ext cx="362904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F36203"/>
                </a:solidFill>
              </a:rPr>
              <a:t>SIMULAÇÃO DE GANHOS E POTENCIAL DE SAVING</a:t>
            </a:r>
            <a:endParaRPr lang="en-US" sz="750" dirty="0">
              <a:solidFill>
                <a:srgbClr val="F36203"/>
              </a:solidFill>
            </a:endParaRPr>
          </a:p>
        </p:txBody>
      </p:sp>
      <p:grpSp>
        <p:nvGrpSpPr>
          <p:cNvPr id="1047" name="Agrupar 1046">
            <a:extLst>
              <a:ext uri="{FF2B5EF4-FFF2-40B4-BE49-F238E27FC236}">
                <a16:creationId xmlns:a16="http://schemas.microsoft.com/office/drawing/2014/main" id="{C978B93C-C2D5-0C55-D627-707B8121371A}"/>
              </a:ext>
            </a:extLst>
          </p:cNvPr>
          <p:cNvGrpSpPr/>
          <p:nvPr/>
        </p:nvGrpSpPr>
        <p:grpSpPr>
          <a:xfrm>
            <a:off x="6455808" y="12585661"/>
            <a:ext cx="1152000" cy="147600"/>
            <a:chOff x="1499760" y="11513857"/>
            <a:chExt cx="1152000" cy="147600"/>
          </a:xfrm>
        </p:grpSpPr>
        <p:sp>
          <p:nvSpPr>
            <p:cNvPr id="1038" name="Shape 230">
              <a:extLst>
                <a:ext uri="{FF2B5EF4-FFF2-40B4-BE49-F238E27FC236}">
                  <a16:creationId xmlns:a16="http://schemas.microsoft.com/office/drawing/2014/main" id="{3B55C20F-4E9D-7166-358A-A189C10F9949}"/>
                </a:ext>
              </a:extLst>
            </p:cNvPr>
            <p:cNvSpPr/>
            <p:nvPr/>
          </p:nvSpPr>
          <p:spPr>
            <a:xfrm>
              <a:off x="1499761" y="11513857"/>
              <a:ext cx="1150304" cy="147600"/>
            </a:xfrm>
            <a:prstGeom prst="roundRect">
              <a:avLst/>
            </a:prstGeom>
            <a:solidFill>
              <a:srgbClr val="EAF5EE"/>
            </a:solidFill>
            <a:ln w="5080">
              <a:noFill/>
              <a:prstDash val="solid"/>
            </a:ln>
          </p:spPr>
        </p:sp>
        <p:sp>
          <p:nvSpPr>
            <p:cNvPr id="1039" name="Text 231">
              <a:extLst>
                <a:ext uri="{FF2B5EF4-FFF2-40B4-BE49-F238E27FC236}">
                  <a16:creationId xmlns:a16="http://schemas.microsoft.com/office/drawing/2014/main" id="{7FE60119-F88F-47A0-BB73-ADB679C949A2}"/>
                </a:ext>
              </a:extLst>
            </p:cNvPr>
            <p:cNvSpPr/>
            <p:nvPr/>
          </p:nvSpPr>
          <p:spPr>
            <a:xfrm>
              <a:off x="1499760" y="11513857"/>
              <a:ext cx="1152000" cy="144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750" b="1" dirty="0">
                  <a:solidFill>
                    <a:srgbClr val="1A6B3A"/>
                  </a:solidFill>
                </a:rPr>
                <a:t>KPI: 0 APIs </a:t>
              </a:r>
              <a:r>
                <a:rPr lang="en-US" sz="750" b="1" dirty="0" err="1">
                  <a:solidFill>
                    <a:srgbClr val="1A6B3A"/>
                  </a:solidFill>
                </a:rPr>
                <a:t>em</a:t>
              </a:r>
              <a:r>
                <a:rPr lang="en-US" sz="750" b="1" dirty="0">
                  <a:solidFill>
                    <a:srgbClr val="1A6B3A"/>
                  </a:solidFill>
                </a:rPr>
                <a:t> CRÍTICO</a:t>
              </a:r>
              <a:endParaRPr lang="en-US" sz="750" dirty="0"/>
            </a:p>
          </p:txBody>
        </p:sp>
      </p:grpSp>
      <p:grpSp>
        <p:nvGrpSpPr>
          <p:cNvPr id="1048" name="Agrupar 1047">
            <a:extLst>
              <a:ext uri="{FF2B5EF4-FFF2-40B4-BE49-F238E27FC236}">
                <a16:creationId xmlns:a16="http://schemas.microsoft.com/office/drawing/2014/main" id="{946F59C5-678C-C1F4-E4B8-0235DCFE9748}"/>
              </a:ext>
            </a:extLst>
          </p:cNvPr>
          <p:cNvGrpSpPr/>
          <p:nvPr/>
        </p:nvGrpSpPr>
        <p:grpSpPr>
          <a:xfrm>
            <a:off x="6466335" y="13834815"/>
            <a:ext cx="1344169" cy="147600"/>
            <a:chOff x="3227832" y="11513857"/>
            <a:chExt cx="1344169" cy="147600"/>
          </a:xfrm>
        </p:grpSpPr>
        <p:sp>
          <p:nvSpPr>
            <p:cNvPr id="1040" name="Shape 230">
              <a:extLst>
                <a:ext uri="{FF2B5EF4-FFF2-40B4-BE49-F238E27FC236}">
                  <a16:creationId xmlns:a16="http://schemas.microsoft.com/office/drawing/2014/main" id="{75597FF5-9D73-B00D-29EA-2F867C046DB2}"/>
                </a:ext>
              </a:extLst>
            </p:cNvPr>
            <p:cNvSpPr/>
            <p:nvPr/>
          </p:nvSpPr>
          <p:spPr>
            <a:xfrm>
              <a:off x="3227833" y="11513857"/>
              <a:ext cx="1344168" cy="147600"/>
            </a:xfrm>
            <a:prstGeom prst="roundRect">
              <a:avLst/>
            </a:prstGeom>
            <a:solidFill>
              <a:srgbClr val="EAF5EE"/>
            </a:solidFill>
            <a:ln w="5080">
              <a:noFill/>
              <a:prstDash val="solid"/>
            </a:ln>
          </p:spPr>
        </p:sp>
        <p:sp>
          <p:nvSpPr>
            <p:cNvPr id="1041" name="Text 231">
              <a:extLst>
                <a:ext uri="{FF2B5EF4-FFF2-40B4-BE49-F238E27FC236}">
                  <a16:creationId xmlns:a16="http://schemas.microsoft.com/office/drawing/2014/main" id="{F8CCE365-A46D-2218-9FA8-F5AFBFC3B833}"/>
                </a:ext>
              </a:extLst>
            </p:cNvPr>
            <p:cNvSpPr/>
            <p:nvPr/>
          </p:nvSpPr>
          <p:spPr>
            <a:xfrm>
              <a:off x="3227832" y="11513857"/>
              <a:ext cx="1344168" cy="144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750" b="1" dirty="0">
                  <a:solidFill>
                    <a:srgbClr val="1A6B3A"/>
                  </a:solidFill>
                </a:rPr>
                <a:t>KPI: ≥ 80% APIs </a:t>
              </a:r>
              <a:r>
                <a:rPr lang="en-US" sz="750" b="1" dirty="0" err="1">
                  <a:solidFill>
                    <a:srgbClr val="1A6B3A"/>
                  </a:solidFill>
                </a:rPr>
                <a:t>em</a:t>
              </a:r>
              <a:r>
                <a:rPr lang="en-US" sz="750" b="1" dirty="0">
                  <a:solidFill>
                    <a:srgbClr val="1A6B3A"/>
                  </a:solidFill>
                </a:rPr>
                <a:t> NORMAL </a:t>
              </a:r>
              <a:endParaRPr lang="en-US" sz="750" dirty="0"/>
            </a:p>
          </p:txBody>
        </p:sp>
      </p:grpSp>
      <p:sp>
        <p:nvSpPr>
          <p:cNvPr id="1043" name="CaixaDeTexto 1042">
            <a:extLst>
              <a:ext uri="{FF2B5EF4-FFF2-40B4-BE49-F238E27FC236}">
                <a16:creationId xmlns:a16="http://schemas.microsoft.com/office/drawing/2014/main" id="{426A4890-9D23-BBC4-EEF4-ABA9B784AD3F}"/>
              </a:ext>
            </a:extLst>
          </p:cNvPr>
          <p:cNvSpPr txBox="1"/>
          <p:nvPr/>
        </p:nvSpPr>
        <p:spPr>
          <a:xfrm>
            <a:off x="6292695" y="10421656"/>
            <a:ext cx="297293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>
                <a:solidFill>
                  <a:schemeClr val="bg1"/>
                </a:solidFill>
              </a:rPr>
              <a:t>I1</a:t>
            </a:r>
          </a:p>
        </p:txBody>
      </p:sp>
      <p:sp>
        <p:nvSpPr>
          <p:cNvPr id="1044" name="CaixaDeTexto 1043">
            <a:extLst>
              <a:ext uri="{FF2B5EF4-FFF2-40B4-BE49-F238E27FC236}">
                <a16:creationId xmlns:a16="http://schemas.microsoft.com/office/drawing/2014/main" id="{C48CD4A6-C991-13BA-FE50-ECB8100164A2}"/>
              </a:ext>
            </a:extLst>
          </p:cNvPr>
          <p:cNvSpPr txBox="1"/>
          <p:nvPr/>
        </p:nvSpPr>
        <p:spPr>
          <a:xfrm>
            <a:off x="6287439" y="11656215"/>
            <a:ext cx="297293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>
                <a:solidFill>
                  <a:schemeClr val="bg1"/>
                </a:solidFill>
              </a:rPr>
              <a:t>I2</a:t>
            </a:r>
          </a:p>
        </p:txBody>
      </p:sp>
      <p:sp>
        <p:nvSpPr>
          <p:cNvPr id="1045" name="CaixaDeTexto 1044">
            <a:extLst>
              <a:ext uri="{FF2B5EF4-FFF2-40B4-BE49-F238E27FC236}">
                <a16:creationId xmlns:a16="http://schemas.microsoft.com/office/drawing/2014/main" id="{78D52671-4878-9FDE-9F2F-7302733D7C8A}"/>
              </a:ext>
            </a:extLst>
          </p:cNvPr>
          <p:cNvSpPr txBox="1"/>
          <p:nvPr/>
        </p:nvSpPr>
        <p:spPr>
          <a:xfrm>
            <a:off x="6286688" y="12894861"/>
            <a:ext cx="297293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700" dirty="0">
                <a:solidFill>
                  <a:schemeClr val="bg1"/>
                </a:solidFill>
              </a:rPr>
              <a:t>I3</a:t>
            </a:r>
          </a:p>
        </p:txBody>
      </p:sp>
      <p:sp>
        <p:nvSpPr>
          <p:cNvPr id="1049" name="Text 80">
            <a:extLst>
              <a:ext uri="{FF2B5EF4-FFF2-40B4-BE49-F238E27FC236}">
                <a16:creationId xmlns:a16="http://schemas.microsoft.com/office/drawing/2014/main" id="{1137428D-5D47-3727-FECF-32C1903FD381}"/>
              </a:ext>
            </a:extLst>
          </p:cNvPr>
          <p:cNvSpPr/>
          <p:nvPr/>
        </p:nvSpPr>
        <p:spPr>
          <a:xfrm>
            <a:off x="2361643" y="3471600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6,15</a:t>
            </a:r>
            <a:endParaRPr lang="en-US" sz="600" b="1" dirty="0"/>
          </a:p>
        </p:txBody>
      </p:sp>
      <p:sp>
        <p:nvSpPr>
          <p:cNvPr id="1050" name="Text 80">
            <a:extLst>
              <a:ext uri="{FF2B5EF4-FFF2-40B4-BE49-F238E27FC236}">
                <a16:creationId xmlns:a16="http://schemas.microsoft.com/office/drawing/2014/main" id="{E7868A8F-44B6-A804-8CF3-3189B97A8E46}"/>
              </a:ext>
            </a:extLst>
          </p:cNvPr>
          <p:cNvSpPr/>
          <p:nvPr/>
        </p:nvSpPr>
        <p:spPr>
          <a:xfrm>
            <a:off x="2361643" y="3740268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6,0</a:t>
            </a:r>
            <a:endParaRPr lang="en-US" sz="600" b="1" dirty="0"/>
          </a:p>
        </p:txBody>
      </p:sp>
      <p:sp>
        <p:nvSpPr>
          <p:cNvPr id="1051" name="Text 80">
            <a:extLst>
              <a:ext uri="{FF2B5EF4-FFF2-40B4-BE49-F238E27FC236}">
                <a16:creationId xmlns:a16="http://schemas.microsoft.com/office/drawing/2014/main" id="{DF332168-8E80-6B2D-96F4-31CCA95B19A6}"/>
              </a:ext>
            </a:extLst>
          </p:cNvPr>
          <p:cNvSpPr/>
          <p:nvPr/>
        </p:nvSpPr>
        <p:spPr>
          <a:xfrm>
            <a:off x="2361643" y="4019998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6,0</a:t>
            </a:r>
            <a:endParaRPr lang="en-US" sz="600" b="1" dirty="0"/>
          </a:p>
        </p:txBody>
      </p:sp>
      <p:sp>
        <p:nvSpPr>
          <p:cNvPr id="1052" name="Text 80">
            <a:extLst>
              <a:ext uri="{FF2B5EF4-FFF2-40B4-BE49-F238E27FC236}">
                <a16:creationId xmlns:a16="http://schemas.microsoft.com/office/drawing/2014/main" id="{56EC4602-EA4F-25DB-37CB-C6168F4E7C8C}"/>
              </a:ext>
            </a:extLst>
          </p:cNvPr>
          <p:cNvSpPr/>
          <p:nvPr/>
        </p:nvSpPr>
        <p:spPr>
          <a:xfrm>
            <a:off x="2361643" y="4292140"/>
            <a:ext cx="365845" cy="102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EC7000"/>
                </a:solidFill>
              </a:rPr>
              <a:t>5,95</a:t>
            </a:r>
            <a:endParaRPr lang="en-US" sz="600" b="1" dirty="0"/>
          </a:p>
        </p:txBody>
      </p:sp>
      <p:sp>
        <p:nvSpPr>
          <p:cNvPr id="1053" name="Text 50">
            <a:extLst>
              <a:ext uri="{FF2B5EF4-FFF2-40B4-BE49-F238E27FC236}">
                <a16:creationId xmlns:a16="http://schemas.microsoft.com/office/drawing/2014/main" id="{D0BE4928-1A6D-3BAB-21FB-15E7D70A01B0}"/>
              </a:ext>
            </a:extLst>
          </p:cNvPr>
          <p:cNvSpPr/>
          <p:nvPr/>
        </p:nvSpPr>
        <p:spPr>
          <a:xfrm>
            <a:off x="2361643" y="2904573"/>
            <a:ext cx="36584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00" b="1" dirty="0">
                <a:solidFill>
                  <a:srgbClr val="C0392B"/>
                </a:solidFill>
              </a:rPr>
              <a:t>6,75</a:t>
            </a:r>
            <a:endParaRPr lang="en-US" sz="600" b="1" dirty="0"/>
          </a:p>
        </p:txBody>
      </p:sp>
      <p:grpSp>
        <p:nvGrpSpPr>
          <p:cNvPr id="1056" name="Agrupar 1055">
            <a:extLst>
              <a:ext uri="{FF2B5EF4-FFF2-40B4-BE49-F238E27FC236}">
                <a16:creationId xmlns:a16="http://schemas.microsoft.com/office/drawing/2014/main" id="{77BB4AD2-6D03-B9DD-CF0F-B27B220FA4F2}"/>
              </a:ext>
            </a:extLst>
          </p:cNvPr>
          <p:cNvGrpSpPr/>
          <p:nvPr/>
        </p:nvGrpSpPr>
        <p:grpSpPr>
          <a:xfrm>
            <a:off x="1416014" y="2617480"/>
            <a:ext cx="368373" cy="184666"/>
            <a:chOff x="1168036" y="4911073"/>
            <a:chExt cx="368373" cy="184666"/>
          </a:xfrm>
        </p:grpSpPr>
        <p:sp>
          <p:nvSpPr>
            <p:cNvPr id="1054" name="Shape 76">
              <a:extLst>
                <a:ext uri="{FF2B5EF4-FFF2-40B4-BE49-F238E27FC236}">
                  <a16:creationId xmlns:a16="http://schemas.microsoft.com/office/drawing/2014/main" id="{4962513C-68D7-9940-1CE1-8AD69CDDF1F3}"/>
                </a:ext>
              </a:extLst>
            </p:cNvPr>
            <p:cNvSpPr/>
            <p:nvPr/>
          </p:nvSpPr>
          <p:spPr>
            <a:xfrm>
              <a:off x="1224206" y="4930254"/>
              <a:ext cx="256032" cy="146304"/>
            </a:xfrm>
            <a:prstGeom prst="roundRect">
              <a:avLst/>
            </a:prstGeom>
            <a:solidFill>
              <a:srgbClr val="E8F0FA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055" name="CaixaDeTexto 1054">
              <a:extLst>
                <a:ext uri="{FF2B5EF4-FFF2-40B4-BE49-F238E27FC236}">
                  <a16:creationId xmlns:a16="http://schemas.microsoft.com/office/drawing/2014/main" id="{F94462CC-4B53-F918-38B1-C01638C8739C}"/>
                </a:ext>
              </a:extLst>
            </p:cNvPr>
            <p:cNvSpPr txBox="1"/>
            <p:nvPr/>
          </p:nvSpPr>
          <p:spPr>
            <a:xfrm>
              <a:off x="1168036" y="4911073"/>
              <a:ext cx="36837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600" dirty="0">
                  <a:solidFill>
                    <a:srgbClr val="163D7D"/>
                  </a:solidFill>
                </a:rPr>
                <a:t>EXT</a:t>
              </a:r>
            </a:p>
          </p:txBody>
        </p:sp>
      </p:grpSp>
      <p:grpSp>
        <p:nvGrpSpPr>
          <p:cNvPr id="1057" name="Agrupar 1056">
            <a:extLst>
              <a:ext uri="{FF2B5EF4-FFF2-40B4-BE49-F238E27FC236}">
                <a16:creationId xmlns:a16="http://schemas.microsoft.com/office/drawing/2014/main" id="{E0EAA43C-88A5-3EB5-872B-CD9580C05504}"/>
              </a:ext>
            </a:extLst>
          </p:cNvPr>
          <p:cNvGrpSpPr/>
          <p:nvPr/>
        </p:nvGrpSpPr>
        <p:grpSpPr>
          <a:xfrm>
            <a:off x="1427117" y="3430403"/>
            <a:ext cx="368373" cy="184666"/>
            <a:chOff x="1168036" y="4911073"/>
            <a:chExt cx="368373" cy="184666"/>
          </a:xfrm>
        </p:grpSpPr>
        <p:sp>
          <p:nvSpPr>
            <p:cNvPr id="1058" name="Shape 76">
              <a:extLst>
                <a:ext uri="{FF2B5EF4-FFF2-40B4-BE49-F238E27FC236}">
                  <a16:creationId xmlns:a16="http://schemas.microsoft.com/office/drawing/2014/main" id="{6129583E-D6BC-D783-D8E5-BAEA44A9F54A}"/>
                </a:ext>
              </a:extLst>
            </p:cNvPr>
            <p:cNvSpPr/>
            <p:nvPr/>
          </p:nvSpPr>
          <p:spPr>
            <a:xfrm>
              <a:off x="1224206" y="4930254"/>
              <a:ext cx="256032" cy="146304"/>
            </a:xfrm>
            <a:prstGeom prst="roundRect">
              <a:avLst/>
            </a:prstGeom>
            <a:solidFill>
              <a:srgbClr val="E8F0FA"/>
            </a:solidFill>
            <a:ln w="5080">
              <a:noFill/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059" name="CaixaDeTexto 1058">
              <a:extLst>
                <a:ext uri="{FF2B5EF4-FFF2-40B4-BE49-F238E27FC236}">
                  <a16:creationId xmlns:a16="http://schemas.microsoft.com/office/drawing/2014/main" id="{2FFEDDC0-96C5-B7D2-B060-E528470A8971}"/>
                </a:ext>
              </a:extLst>
            </p:cNvPr>
            <p:cNvSpPr txBox="1"/>
            <p:nvPr/>
          </p:nvSpPr>
          <p:spPr>
            <a:xfrm>
              <a:off x="1168036" y="4911073"/>
              <a:ext cx="36837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BR" sz="600" dirty="0">
                  <a:solidFill>
                    <a:srgbClr val="163D7D"/>
                  </a:solidFill>
                </a:rPr>
                <a:t>EXT</a:t>
              </a:r>
            </a:p>
          </p:txBody>
        </p:sp>
      </p:grpSp>
      <p:sp>
        <p:nvSpPr>
          <p:cNvPr id="3" name="Shape 160">
            <a:extLst>
              <a:ext uri="{FF2B5EF4-FFF2-40B4-BE49-F238E27FC236}">
                <a16:creationId xmlns:a16="http://schemas.microsoft.com/office/drawing/2014/main" id="{C9B7DD59-7B17-A179-8B39-33EE197B717C}"/>
              </a:ext>
            </a:extLst>
          </p:cNvPr>
          <p:cNvSpPr/>
          <p:nvPr/>
        </p:nvSpPr>
        <p:spPr>
          <a:xfrm>
            <a:off x="196854" y="6738491"/>
            <a:ext cx="45720" cy="20116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7" name="Text 161">
            <a:extLst>
              <a:ext uri="{FF2B5EF4-FFF2-40B4-BE49-F238E27FC236}">
                <a16:creationId xmlns:a16="http://schemas.microsoft.com/office/drawing/2014/main" id="{C307FA1F-53D0-870A-E687-A1639E9F4B96}"/>
              </a:ext>
            </a:extLst>
          </p:cNvPr>
          <p:cNvSpPr/>
          <p:nvPr/>
        </p:nvSpPr>
        <p:spPr>
          <a:xfrm>
            <a:off x="288294" y="6738491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b="1" kern="0" spc="200" dirty="0">
                <a:solidFill>
                  <a:srgbClr val="EC7000"/>
                </a:solidFill>
              </a:rPr>
              <a:t>CLUSTERS ESTRATÉGICOS — SEGMENTAÇÃO DO PORTFÓLIO</a:t>
            </a:r>
            <a:endParaRPr lang="en-US" sz="750" dirty="0"/>
          </a:p>
        </p:txBody>
      </p:sp>
      <p:sp>
        <p:nvSpPr>
          <p:cNvPr id="8" name="Shape 162">
            <a:extLst>
              <a:ext uri="{FF2B5EF4-FFF2-40B4-BE49-F238E27FC236}">
                <a16:creationId xmlns:a16="http://schemas.microsoft.com/office/drawing/2014/main" id="{16809E21-ED48-FF5F-3EC2-CA2DAEF6C41F}"/>
              </a:ext>
            </a:extLst>
          </p:cNvPr>
          <p:cNvSpPr/>
          <p:nvPr/>
        </p:nvSpPr>
        <p:spPr>
          <a:xfrm>
            <a:off x="196854" y="6994523"/>
            <a:ext cx="2123694" cy="1078992"/>
          </a:xfrm>
          <a:prstGeom prst="roundRect">
            <a:avLst>
              <a:gd name="adj" fmla="val 2949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7" name="Shape 163">
            <a:extLst>
              <a:ext uri="{FF2B5EF4-FFF2-40B4-BE49-F238E27FC236}">
                <a16:creationId xmlns:a16="http://schemas.microsoft.com/office/drawing/2014/main" id="{D43BAB3B-EF82-2B9E-6BF5-623D4A3C8997}"/>
              </a:ext>
            </a:extLst>
          </p:cNvPr>
          <p:cNvSpPr/>
          <p:nvPr/>
        </p:nvSpPr>
        <p:spPr>
          <a:xfrm>
            <a:off x="196854" y="6994523"/>
            <a:ext cx="54864" cy="1078992"/>
          </a:xfrm>
          <a:prstGeom prst="rect">
            <a:avLst/>
          </a:prstGeom>
          <a:solidFill>
            <a:srgbClr val="C0392B"/>
          </a:solidFill>
          <a:ln w="12700">
            <a:noFill/>
            <a:prstDash val="solid"/>
          </a:ln>
        </p:spPr>
      </p:sp>
      <p:sp>
        <p:nvSpPr>
          <p:cNvPr id="18" name="Text 164">
            <a:extLst>
              <a:ext uri="{FF2B5EF4-FFF2-40B4-BE49-F238E27FC236}">
                <a16:creationId xmlns:a16="http://schemas.microsoft.com/office/drawing/2014/main" id="{4DC66091-AAD6-7896-461C-D4E600CC70F3}"/>
              </a:ext>
            </a:extLst>
          </p:cNvPr>
          <p:cNvSpPr/>
          <p:nvPr/>
        </p:nvSpPr>
        <p:spPr>
          <a:xfrm>
            <a:off x="306582" y="7058531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C0392B"/>
                </a:solidFill>
              </a:rPr>
              <a:t>CRÍTICAS DE NEGÓCIO</a:t>
            </a:r>
            <a:endParaRPr lang="en-US" sz="700" dirty="0"/>
          </a:p>
        </p:txBody>
      </p:sp>
      <p:sp>
        <p:nvSpPr>
          <p:cNvPr id="22" name="Text 165">
            <a:extLst>
              <a:ext uri="{FF2B5EF4-FFF2-40B4-BE49-F238E27FC236}">
                <a16:creationId xmlns:a16="http://schemas.microsoft.com/office/drawing/2014/main" id="{DFA81B8E-978E-5B1E-E926-7D5B43952FB9}"/>
              </a:ext>
            </a:extLst>
          </p:cNvPr>
          <p:cNvSpPr/>
          <p:nvPr/>
        </p:nvSpPr>
        <p:spPr>
          <a:xfrm>
            <a:off x="306582" y="7195691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APIs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</a:t>
            </a:r>
            <a:endParaRPr lang="en-US" sz="1050" dirty="0"/>
          </a:p>
        </p:txBody>
      </p:sp>
      <p:sp>
        <p:nvSpPr>
          <p:cNvPr id="23" name="Text 166">
            <a:extLst>
              <a:ext uri="{FF2B5EF4-FFF2-40B4-BE49-F238E27FC236}">
                <a16:creationId xmlns:a16="http://schemas.microsoft.com/office/drawing/2014/main" id="{322CA8D5-EE1C-308E-0BDD-A759DC0B0BC3}"/>
              </a:ext>
            </a:extLst>
          </p:cNvPr>
          <p:cNvSpPr/>
          <p:nvPr/>
        </p:nvSpPr>
        <p:spPr>
          <a:xfrm>
            <a:off x="306582" y="7332207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Alto </a:t>
            </a:r>
            <a:r>
              <a:rPr lang="en-US" sz="700" dirty="0" err="1">
                <a:solidFill>
                  <a:srgbClr val="444444"/>
                </a:solidFill>
              </a:rPr>
              <a:t>risco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ao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cliente</a:t>
            </a:r>
            <a:r>
              <a:rPr lang="en-US" sz="700" dirty="0">
                <a:solidFill>
                  <a:srgbClr val="444444"/>
                </a:solidFill>
              </a:rPr>
              <a:t> final e </a:t>
            </a:r>
            <a:r>
              <a:rPr lang="en-US" sz="700" dirty="0" err="1">
                <a:solidFill>
                  <a:srgbClr val="444444"/>
                </a:solidFill>
              </a:rPr>
              <a:t>exposição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regulatória</a:t>
            </a:r>
            <a:r>
              <a:rPr lang="en-US" sz="700" dirty="0">
                <a:solidFill>
                  <a:srgbClr val="444444"/>
                </a:solidFill>
              </a:rPr>
              <a:t>. </a:t>
            </a:r>
            <a:r>
              <a:rPr lang="en-US" sz="700" dirty="0" err="1">
                <a:solidFill>
                  <a:srgbClr val="444444"/>
                </a:solidFill>
              </a:rPr>
              <a:t>Custo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baixo</a:t>
            </a:r>
            <a:r>
              <a:rPr lang="en-US" sz="700" dirty="0">
                <a:solidFill>
                  <a:srgbClr val="444444"/>
                </a:solidFill>
              </a:rPr>
              <a:t>, mas </a:t>
            </a:r>
            <a:r>
              <a:rPr lang="en-US" sz="700" dirty="0" err="1">
                <a:solidFill>
                  <a:srgbClr val="444444"/>
                </a:solidFill>
              </a:rPr>
              <a:t>impacto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regulatório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desproporcional</a:t>
            </a:r>
            <a:endParaRPr lang="en-US" sz="700" dirty="0"/>
          </a:p>
        </p:txBody>
      </p:sp>
      <p:sp>
        <p:nvSpPr>
          <p:cNvPr id="27" name="Shape 167">
            <a:extLst>
              <a:ext uri="{FF2B5EF4-FFF2-40B4-BE49-F238E27FC236}">
                <a16:creationId xmlns:a16="http://schemas.microsoft.com/office/drawing/2014/main" id="{BED759C3-397F-9170-189D-8688FBE7CE96}"/>
              </a:ext>
            </a:extLst>
          </p:cNvPr>
          <p:cNvSpPr/>
          <p:nvPr/>
        </p:nvSpPr>
        <p:spPr>
          <a:xfrm>
            <a:off x="306582" y="7872347"/>
            <a:ext cx="1922526" cy="146304"/>
          </a:xfrm>
          <a:prstGeom prst="rect">
            <a:avLst/>
          </a:prstGeom>
          <a:solidFill>
            <a:srgbClr val="FDEDEB"/>
          </a:solidFill>
          <a:ln w="5080">
            <a:solidFill>
              <a:srgbClr val="C0392B"/>
            </a:solidFill>
            <a:prstDash val="solid"/>
          </a:ln>
        </p:spPr>
      </p:sp>
      <p:sp>
        <p:nvSpPr>
          <p:cNvPr id="28" name="Text 168">
            <a:extLst>
              <a:ext uri="{FF2B5EF4-FFF2-40B4-BE49-F238E27FC236}">
                <a16:creationId xmlns:a16="http://schemas.microsoft.com/office/drawing/2014/main" id="{D0263465-C34D-CA1C-0A2C-732205F204F2}"/>
              </a:ext>
            </a:extLst>
          </p:cNvPr>
          <p:cNvSpPr/>
          <p:nvPr/>
        </p:nvSpPr>
        <p:spPr>
          <a:xfrm>
            <a:off x="306582" y="7872347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C0392B"/>
                </a:solidFill>
              </a:rPr>
              <a:t>Sprint </a:t>
            </a:r>
            <a:r>
              <a:rPr lang="en-US" sz="750" b="1" dirty="0" err="1">
                <a:solidFill>
                  <a:srgbClr val="C0392B"/>
                </a:solidFill>
              </a:rPr>
              <a:t>dedicado</a:t>
            </a:r>
            <a:r>
              <a:rPr lang="en-US" sz="750" b="1" dirty="0">
                <a:solidFill>
                  <a:srgbClr val="C0392B"/>
                </a:solidFill>
              </a:rPr>
              <a:t> – </a:t>
            </a:r>
            <a:r>
              <a:rPr lang="en-US" sz="750" b="1" dirty="0" err="1">
                <a:solidFill>
                  <a:srgbClr val="C0392B"/>
                </a:solidFill>
              </a:rPr>
              <a:t>risco</a:t>
            </a:r>
            <a:r>
              <a:rPr lang="en-US" sz="750" b="1" dirty="0">
                <a:solidFill>
                  <a:srgbClr val="C0392B"/>
                </a:solidFill>
              </a:rPr>
              <a:t> &gt; </a:t>
            </a:r>
            <a:r>
              <a:rPr lang="en-US" sz="750" b="1" dirty="0" err="1">
                <a:solidFill>
                  <a:srgbClr val="C0392B"/>
                </a:solidFill>
              </a:rPr>
              <a:t>custo</a:t>
            </a:r>
            <a:endParaRPr lang="en-US" sz="750" dirty="0"/>
          </a:p>
        </p:txBody>
      </p:sp>
      <p:sp>
        <p:nvSpPr>
          <p:cNvPr id="62" name="Shape 169">
            <a:extLst>
              <a:ext uri="{FF2B5EF4-FFF2-40B4-BE49-F238E27FC236}">
                <a16:creationId xmlns:a16="http://schemas.microsoft.com/office/drawing/2014/main" id="{A3E48936-F24E-1FB3-230B-52431917279C}"/>
              </a:ext>
            </a:extLst>
          </p:cNvPr>
          <p:cNvSpPr/>
          <p:nvPr/>
        </p:nvSpPr>
        <p:spPr>
          <a:xfrm>
            <a:off x="2402844" y="6994523"/>
            <a:ext cx="2123694" cy="1078992"/>
          </a:xfrm>
          <a:prstGeom prst="roundRect">
            <a:avLst>
              <a:gd name="adj" fmla="val 4169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71" name="Shape 170">
            <a:extLst>
              <a:ext uri="{FF2B5EF4-FFF2-40B4-BE49-F238E27FC236}">
                <a16:creationId xmlns:a16="http://schemas.microsoft.com/office/drawing/2014/main" id="{223161B2-20CB-4E71-2A5B-8EAE6F352BD0}"/>
              </a:ext>
            </a:extLst>
          </p:cNvPr>
          <p:cNvSpPr/>
          <p:nvPr/>
        </p:nvSpPr>
        <p:spPr>
          <a:xfrm>
            <a:off x="2402844" y="6994523"/>
            <a:ext cx="54864" cy="1078992"/>
          </a:xfrm>
          <a:prstGeom prst="rect">
            <a:avLst/>
          </a:prstGeom>
          <a:solidFill>
            <a:srgbClr val="EC7000"/>
          </a:solidFill>
          <a:ln w="12700">
            <a:noFill/>
            <a:prstDash val="solid"/>
          </a:ln>
        </p:spPr>
      </p:sp>
      <p:sp>
        <p:nvSpPr>
          <p:cNvPr id="78" name="Text 171">
            <a:extLst>
              <a:ext uri="{FF2B5EF4-FFF2-40B4-BE49-F238E27FC236}">
                <a16:creationId xmlns:a16="http://schemas.microsoft.com/office/drawing/2014/main" id="{2B7B31CF-421A-92DA-A61F-0E727BA1CC6F}"/>
              </a:ext>
            </a:extLst>
          </p:cNvPr>
          <p:cNvSpPr/>
          <p:nvPr/>
        </p:nvSpPr>
        <p:spPr>
          <a:xfrm>
            <a:off x="2512572" y="7058531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EC7000"/>
                </a:solidFill>
              </a:rPr>
              <a:t>GARGALO OPERACIONAL</a:t>
            </a:r>
            <a:endParaRPr lang="en-US" sz="700" dirty="0"/>
          </a:p>
        </p:txBody>
      </p:sp>
      <p:sp>
        <p:nvSpPr>
          <p:cNvPr id="79" name="Text 172">
            <a:extLst>
              <a:ext uri="{FF2B5EF4-FFF2-40B4-BE49-F238E27FC236}">
                <a16:creationId xmlns:a16="http://schemas.microsoft.com/office/drawing/2014/main" id="{492D1BC3-B472-CC07-3167-43D3B9F5D6D4}"/>
              </a:ext>
            </a:extLst>
          </p:cNvPr>
          <p:cNvSpPr/>
          <p:nvPr/>
        </p:nvSpPr>
        <p:spPr>
          <a:xfrm>
            <a:off x="2512572" y="7195691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APIs –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50" dirty="0"/>
          </a:p>
        </p:txBody>
      </p:sp>
      <p:sp>
        <p:nvSpPr>
          <p:cNvPr id="89" name="Text 173">
            <a:extLst>
              <a:ext uri="{FF2B5EF4-FFF2-40B4-BE49-F238E27FC236}">
                <a16:creationId xmlns:a16="http://schemas.microsoft.com/office/drawing/2014/main" id="{53C18AC5-7E92-6009-E220-48C985B8CDCA}"/>
              </a:ext>
            </a:extLst>
          </p:cNvPr>
          <p:cNvSpPr/>
          <p:nvPr/>
        </p:nvSpPr>
        <p:spPr>
          <a:xfrm>
            <a:off x="2512572" y="7332207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>
                <a:solidFill>
                  <a:srgbClr val="444444"/>
                </a:solidFill>
              </a:rPr>
              <a:t>Risco de </a:t>
            </a:r>
            <a:r>
              <a:rPr lang="en-US" sz="700" dirty="0" err="1">
                <a:solidFill>
                  <a:srgbClr val="444444"/>
                </a:solidFill>
              </a:rPr>
              <a:t>instabilidade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em</a:t>
            </a:r>
            <a:r>
              <a:rPr lang="en-US" sz="700" dirty="0">
                <a:solidFill>
                  <a:srgbClr val="444444"/>
                </a:solidFill>
              </a:rPr>
              <a:t> releases. Ciclo de </a:t>
            </a:r>
            <a:r>
              <a:rPr lang="en-US" sz="700" dirty="0" err="1">
                <a:solidFill>
                  <a:srgbClr val="444444"/>
                </a:solidFill>
              </a:rPr>
              <a:t>maturidade</a:t>
            </a:r>
            <a:r>
              <a:rPr lang="en-US" sz="700" dirty="0">
                <a:solidFill>
                  <a:srgbClr val="444444"/>
                </a:solidFill>
              </a:rPr>
              <a:t> for a do </a:t>
            </a:r>
            <a:r>
              <a:rPr lang="en-US" sz="700" dirty="0" err="1">
                <a:solidFill>
                  <a:srgbClr val="444444"/>
                </a:solidFill>
              </a:rPr>
              <a:t>padrão</a:t>
            </a:r>
            <a:r>
              <a:rPr lang="en-US" sz="700" dirty="0">
                <a:solidFill>
                  <a:srgbClr val="444444"/>
                </a:solidFill>
              </a:rPr>
              <a:t>. </a:t>
            </a:r>
            <a:r>
              <a:rPr lang="en-US" sz="700" dirty="0" err="1">
                <a:solidFill>
                  <a:srgbClr val="444444"/>
                </a:solidFill>
              </a:rPr>
              <a:t>Dívida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técnica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acumulada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silenciosamente</a:t>
            </a:r>
            <a:endParaRPr lang="en-US" sz="700" dirty="0"/>
          </a:p>
        </p:txBody>
      </p:sp>
      <p:sp>
        <p:nvSpPr>
          <p:cNvPr id="90" name="Shape 174">
            <a:extLst>
              <a:ext uri="{FF2B5EF4-FFF2-40B4-BE49-F238E27FC236}">
                <a16:creationId xmlns:a16="http://schemas.microsoft.com/office/drawing/2014/main" id="{3ED6D0D5-7F31-BEE8-416D-F17095141E1B}"/>
              </a:ext>
            </a:extLst>
          </p:cNvPr>
          <p:cNvSpPr/>
          <p:nvPr/>
        </p:nvSpPr>
        <p:spPr>
          <a:xfrm>
            <a:off x="2512572" y="7872347"/>
            <a:ext cx="1922526" cy="146304"/>
          </a:xfrm>
          <a:prstGeom prst="rect">
            <a:avLst/>
          </a:prstGeom>
          <a:solidFill>
            <a:srgbClr val="FEF0E6"/>
          </a:solidFill>
          <a:ln w="5080">
            <a:solidFill>
              <a:srgbClr val="EC7000"/>
            </a:solidFill>
            <a:prstDash val="solid"/>
          </a:ln>
        </p:spPr>
      </p:sp>
      <p:sp>
        <p:nvSpPr>
          <p:cNvPr id="93" name="Text 175">
            <a:extLst>
              <a:ext uri="{FF2B5EF4-FFF2-40B4-BE49-F238E27FC236}">
                <a16:creationId xmlns:a16="http://schemas.microsoft.com/office/drawing/2014/main" id="{13B2BFB8-03A1-0229-1490-7F6990E88294}"/>
              </a:ext>
            </a:extLst>
          </p:cNvPr>
          <p:cNvSpPr/>
          <p:nvPr/>
        </p:nvSpPr>
        <p:spPr>
          <a:xfrm>
            <a:off x="2512572" y="7872347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D45A00"/>
                </a:solidFill>
              </a:rPr>
              <a:t>Foco </a:t>
            </a:r>
            <a:r>
              <a:rPr lang="en-US" sz="750" b="1" dirty="0" err="1">
                <a:solidFill>
                  <a:srgbClr val="D45A00"/>
                </a:solidFill>
              </a:rPr>
              <a:t>em</a:t>
            </a:r>
            <a:r>
              <a:rPr lang="en-US" sz="750" b="1" dirty="0">
                <a:solidFill>
                  <a:srgbClr val="D45A00"/>
                </a:solidFill>
              </a:rPr>
              <a:t> </a:t>
            </a:r>
            <a:r>
              <a:rPr lang="en-US" sz="750" b="1" dirty="0" err="1">
                <a:solidFill>
                  <a:srgbClr val="D45A00"/>
                </a:solidFill>
              </a:rPr>
              <a:t>governança</a:t>
            </a:r>
            <a:endParaRPr lang="en-US" sz="750" dirty="0"/>
          </a:p>
        </p:txBody>
      </p:sp>
      <p:sp>
        <p:nvSpPr>
          <p:cNvPr id="102" name="Shape 176">
            <a:extLst>
              <a:ext uri="{FF2B5EF4-FFF2-40B4-BE49-F238E27FC236}">
                <a16:creationId xmlns:a16="http://schemas.microsoft.com/office/drawing/2014/main" id="{36EFFB7D-03B9-086E-4C42-FB5BB0040609}"/>
              </a:ext>
            </a:extLst>
          </p:cNvPr>
          <p:cNvSpPr/>
          <p:nvPr/>
        </p:nvSpPr>
        <p:spPr>
          <a:xfrm>
            <a:off x="4608834" y="6994523"/>
            <a:ext cx="2123694" cy="1078992"/>
          </a:xfrm>
          <a:prstGeom prst="roundRect">
            <a:avLst>
              <a:gd name="adj" fmla="val 2644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11" name="Shape 177">
            <a:extLst>
              <a:ext uri="{FF2B5EF4-FFF2-40B4-BE49-F238E27FC236}">
                <a16:creationId xmlns:a16="http://schemas.microsoft.com/office/drawing/2014/main" id="{837CAE39-49AB-F242-7C80-78F5AFC6056A}"/>
              </a:ext>
            </a:extLst>
          </p:cNvPr>
          <p:cNvSpPr/>
          <p:nvPr/>
        </p:nvSpPr>
        <p:spPr>
          <a:xfrm>
            <a:off x="4608834" y="6994523"/>
            <a:ext cx="54864" cy="1078992"/>
          </a:xfrm>
          <a:prstGeom prst="rect">
            <a:avLst/>
          </a:prstGeom>
          <a:solidFill>
            <a:srgbClr val="1B5EA8"/>
          </a:solidFill>
          <a:ln w="12700">
            <a:noFill/>
            <a:prstDash val="solid"/>
          </a:ln>
        </p:spPr>
      </p:sp>
      <p:sp>
        <p:nvSpPr>
          <p:cNvPr id="1024" name="Text 178">
            <a:extLst>
              <a:ext uri="{FF2B5EF4-FFF2-40B4-BE49-F238E27FC236}">
                <a16:creationId xmlns:a16="http://schemas.microsoft.com/office/drawing/2014/main" id="{2B1918E2-49BF-53AA-35E7-B901FBD4CC9B}"/>
              </a:ext>
            </a:extLst>
          </p:cNvPr>
          <p:cNvSpPr/>
          <p:nvPr/>
        </p:nvSpPr>
        <p:spPr>
          <a:xfrm>
            <a:off x="4718562" y="7058531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1B5EA8"/>
                </a:solidFill>
              </a:rPr>
              <a:t>CUSLTO ALTO</a:t>
            </a:r>
            <a:endParaRPr lang="en-US" sz="700" dirty="0"/>
          </a:p>
        </p:txBody>
      </p:sp>
      <p:sp>
        <p:nvSpPr>
          <p:cNvPr id="1026" name="Text 179">
            <a:extLst>
              <a:ext uri="{FF2B5EF4-FFF2-40B4-BE49-F238E27FC236}">
                <a16:creationId xmlns:a16="http://schemas.microsoft.com/office/drawing/2014/main" id="{02B96A1A-54DF-FD74-2766-8C10F6FCFADC}"/>
              </a:ext>
            </a:extLst>
          </p:cNvPr>
          <p:cNvSpPr/>
          <p:nvPr/>
        </p:nvSpPr>
        <p:spPr>
          <a:xfrm>
            <a:off x="4718562" y="7195691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APIs – 80,5% do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050" dirty="0"/>
          </a:p>
        </p:txBody>
      </p:sp>
      <p:sp>
        <p:nvSpPr>
          <p:cNvPr id="1033" name="Text 180">
            <a:extLst>
              <a:ext uri="{FF2B5EF4-FFF2-40B4-BE49-F238E27FC236}">
                <a16:creationId xmlns:a16="http://schemas.microsoft.com/office/drawing/2014/main" id="{AA5B8C2B-14E1-AC10-D3E5-81124E9415BA}"/>
              </a:ext>
            </a:extLst>
          </p:cNvPr>
          <p:cNvSpPr/>
          <p:nvPr/>
        </p:nvSpPr>
        <p:spPr>
          <a:xfrm>
            <a:off x="4718562" y="7332207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 err="1">
                <a:solidFill>
                  <a:srgbClr val="444444"/>
                </a:solidFill>
              </a:rPr>
              <a:t>Concentração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crítica</a:t>
            </a:r>
            <a:r>
              <a:rPr lang="en-US" sz="700" dirty="0">
                <a:solidFill>
                  <a:srgbClr val="444444"/>
                </a:solidFill>
              </a:rPr>
              <a:t> de R$ 69.718/</a:t>
            </a:r>
            <a:r>
              <a:rPr lang="en-US" sz="700" dirty="0" err="1">
                <a:solidFill>
                  <a:srgbClr val="444444"/>
                </a:solidFill>
              </a:rPr>
              <a:t>mês</a:t>
            </a:r>
            <a:r>
              <a:rPr lang="en-US" sz="700" dirty="0">
                <a:solidFill>
                  <a:srgbClr val="444444"/>
                </a:solidFill>
              </a:rPr>
              <a:t>. </a:t>
            </a:r>
            <a:r>
              <a:rPr lang="en-US" sz="700" dirty="0" err="1">
                <a:solidFill>
                  <a:srgbClr val="444444"/>
                </a:solidFill>
              </a:rPr>
              <a:t>Qualquer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reudção</a:t>
            </a:r>
            <a:r>
              <a:rPr lang="en-US" sz="700" dirty="0">
                <a:solidFill>
                  <a:srgbClr val="444444"/>
                </a:solidFill>
              </a:rPr>
              <a:t> de </a:t>
            </a:r>
            <a:r>
              <a:rPr lang="en-US" sz="700" dirty="0" err="1">
                <a:solidFill>
                  <a:srgbClr val="444444"/>
                </a:solidFill>
              </a:rPr>
              <a:t>latência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tem</a:t>
            </a:r>
            <a:r>
              <a:rPr lang="en-US" sz="700" dirty="0">
                <a:solidFill>
                  <a:srgbClr val="444444"/>
                </a:solidFill>
              </a:rPr>
              <a:t> ROI </a:t>
            </a:r>
            <a:r>
              <a:rPr lang="en-US" sz="700" dirty="0" err="1">
                <a:solidFill>
                  <a:srgbClr val="444444"/>
                </a:solidFill>
              </a:rPr>
              <a:t>imediato</a:t>
            </a:r>
            <a:endParaRPr lang="en-US" sz="700" dirty="0"/>
          </a:p>
        </p:txBody>
      </p:sp>
      <p:sp>
        <p:nvSpPr>
          <p:cNvPr id="1034" name="Shape 181">
            <a:extLst>
              <a:ext uri="{FF2B5EF4-FFF2-40B4-BE49-F238E27FC236}">
                <a16:creationId xmlns:a16="http://schemas.microsoft.com/office/drawing/2014/main" id="{2126586F-F342-7F29-753F-EBB472BEEAE8}"/>
              </a:ext>
            </a:extLst>
          </p:cNvPr>
          <p:cNvSpPr/>
          <p:nvPr/>
        </p:nvSpPr>
        <p:spPr>
          <a:xfrm>
            <a:off x="4718562" y="7872347"/>
            <a:ext cx="1922526" cy="146304"/>
          </a:xfrm>
          <a:prstGeom prst="rect">
            <a:avLst/>
          </a:prstGeom>
          <a:solidFill>
            <a:srgbClr val="E8F0FA"/>
          </a:solidFill>
          <a:ln w="5080">
            <a:solidFill>
              <a:srgbClr val="1B5EA8"/>
            </a:solidFill>
            <a:prstDash val="solid"/>
          </a:ln>
        </p:spPr>
      </p:sp>
      <p:sp>
        <p:nvSpPr>
          <p:cNvPr id="1037" name="Text 182">
            <a:extLst>
              <a:ext uri="{FF2B5EF4-FFF2-40B4-BE49-F238E27FC236}">
                <a16:creationId xmlns:a16="http://schemas.microsoft.com/office/drawing/2014/main" id="{A7E85491-C780-0563-C235-3C0D1AAAE376}"/>
              </a:ext>
            </a:extLst>
          </p:cNvPr>
          <p:cNvSpPr/>
          <p:nvPr/>
        </p:nvSpPr>
        <p:spPr>
          <a:xfrm>
            <a:off x="4718562" y="7872347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 err="1">
                <a:solidFill>
                  <a:srgbClr val="003D7D"/>
                </a:solidFill>
              </a:rPr>
              <a:t>Latência</a:t>
            </a:r>
            <a:r>
              <a:rPr lang="en-US" sz="750" b="1" dirty="0">
                <a:solidFill>
                  <a:srgbClr val="003D7D"/>
                </a:solidFill>
              </a:rPr>
              <a:t> first – ROI </a:t>
            </a:r>
            <a:r>
              <a:rPr lang="en-US" sz="750" b="1" dirty="0" err="1">
                <a:solidFill>
                  <a:srgbClr val="003D7D"/>
                </a:solidFill>
              </a:rPr>
              <a:t>elevado</a:t>
            </a:r>
            <a:endParaRPr lang="en-US" sz="750" dirty="0"/>
          </a:p>
        </p:txBody>
      </p:sp>
      <p:sp>
        <p:nvSpPr>
          <p:cNvPr id="1042" name="Shape 183">
            <a:extLst>
              <a:ext uri="{FF2B5EF4-FFF2-40B4-BE49-F238E27FC236}">
                <a16:creationId xmlns:a16="http://schemas.microsoft.com/office/drawing/2014/main" id="{9AA380FD-609F-6573-F2AA-BFE57A0B0EC4}"/>
              </a:ext>
            </a:extLst>
          </p:cNvPr>
          <p:cNvSpPr/>
          <p:nvPr/>
        </p:nvSpPr>
        <p:spPr>
          <a:xfrm>
            <a:off x="6814824" y="6994523"/>
            <a:ext cx="2123694" cy="1078992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5080">
            <a:noFill/>
            <a:prstDash val="solid"/>
          </a:ln>
          <a:effectLst/>
        </p:spPr>
      </p:sp>
      <p:sp>
        <p:nvSpPr>
          <p:cNvPr id="1060" name="Shape 184">
            <a:extLst>
              <a:ext uri="{FF2B5EF4-FFF2-40B4-BE49-F238E27FC236}">
                <a16:creationId xmlns:a16="http://schemas.microsoft.com/office/drawing/2014/main" id="{537C8A7F-65A8-8DBB-602D-FAD2D4CB5BBC}"/>
              </a:ext>
            </a:extLst>
          </p:cNvPr>
          <p:cNvSpPr/>
          <p:nvPr/>
        </p:nvSpPr>
        <p:spPr>
          <a:xfrm>
            <a:off x="6814824" y="6994523"/>
            <a:ext cx="54864" cy="1078992"/>
          </a:xfrm>
          <a:prstGeom prst="rect">
            <a:avLst/>
          </a:prstGeom>
          <a:solidFill>
            <a:srgbClr val="1A6B3A"/>
          </a:solidFill>
          <a:ln w="12700">
            <a:noFill/>
            <a:prstDash val="solid"/>
          </a:ln>
        </p:spPr>
      </p:sp>
      <p:sp>
        <p:nvSpPr>
          <p:cNvPr id="1061" name="Text 185">
            <a:extLst>
              <a:ext uri="{FF2B5EF4-FFF2-40B4-BE49-F238E27FC236}">
                <a16:creationId xmlns:a16="http://schemas.microsoft.com/office/drawing/2014/main" id="{1DFDE2E8-BEAF-4571-1768-F4A468EB3292}"/>
              </a:ext>
            </a:extLst>
          </p:cNvPr>
          <p:cNvSpPr/>
          <p:nvPr/>
        </p:nvSpPr>
        <p:spPr>
          <a:xfrm>
            <a:off x="6924552" y="7058531"/>
            <a:ext cx="19773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kern="0" spc="100" dirty="0">
                <a:solidFill>
                  <a:srgbClr val="1A6B3A"/>
                </a:solidFill>
              </a:rPr>
              <a:t>LONG TAIL</a:t>
            </a:r>
            <a:endParaRPr lang="en-US" sz="700" dirty="0"/>
          </a:p>
        </p:txBody>
      </p:sp>
      <p:sp>
        <p:nvSpPr>
          <p:cNvPr id="1062" name="Text 186">
            <a:extLst>
              <a:ext uri="{FF2B5EF4-FFF2-40B4-BE49-F238E27FC236}">
                <a16:creationId xmlns:a16="http://schemas.microsoft.com/office/drawing/2014/main" id="{635EEE7A-1DF9-E4F6-BA5F-D13195A6CD3E}"/>
              </a:ext>
            </a:extLst>
          </p:cNvPr>
          <p:cNvSpPr/>
          <p:nvPr/>
        </p:nvSpPr>
        <p:spPr>
          <a:xfrm>
            <a:off x="6924552" y="7195691"/>
            <a:ext cx="197739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APIs -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volume</a:t>
            </a:r>
            <a:endParaRPr lang="en-US" sz="1050" dirty="0"/>
          </a:p>
        </p:txBody>
      </p:sp>
      <p:sp>
        <p:nvSpPr>
          <p:cNvPr id="1063" name="Text 187">
            <a:extLst>
              <a:ext uri="{FF2B5EF4-FFF2-40B4-BE49-F238E27FC236}">
                <a16:creationId xmlns:a16="http://schemas.microsoft.com/office/drawing/2014/main" id="{9D9ECC60-E359-23AC-4D89-F26D0F22262B}"/>
              </a:ext>
            </a:extLst>
          </p:cNvPr>
          <p:cNvSpPr/>
          <p:nvPr/>
        </p:nvSpPr>
        <p:spPr>
          <a:xfrm>
            <a:off x="6924552" y="7332207"/>
            <a:ext cx="19773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700" dirty="0" err="1">
                <a:solidFill>
                  <a:srgbClr val="444444"/>
                </a:solidFill>
              </a:rPr>
              <a:t>Candidatas</a:t>
            </a:r>
            <a:r>
              <a:rPr lang="en-US" sz="700" dirty="0">
                <a:solidFill>
                  <a:srgbClr val="444444"/>
                </a:solidFill>
              </a:rPr>
              <a:t> a </a:t>
            </a:r>
            <a:r>
              <a:rPr lang="en-US" sz="700" dirty="0" err="1">
                <a:solidFill>
                  <a:srgbClr val="444444"/>
                </a:solidFill>
              </a:rPr>
              <a:t>revisão</a:t>
            </a:r>
            <a:r>
              <a:rPr lang="en-US" sz="700" dirty="0">
                <a:solidFill>
                  <a:srgbClr val="444444"/>
                </a:solidFill>
              </a:rPr>
              <a:t> de SLA </a:t>
            </a:r>
            <a:r>
              <a:rPr lang="en-US" sz="700" dirty="0" err="1">
                <a:solidFill>
                  <a:srgbClr val="444444"/>
                </a:solidFill>
              </a:rPr>
              <a:t>ou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descomissiaonemtno</a:t>
            </a:r>
            <a:r>
              <a:rPr lang="en-US" sz="700" dirty="0">
                <a:solidFill>
                  <a:srgbClr val="444444"/>
                </a:solidFill>
              </a:rPr>
              <a:t>. </a:t>
            </a:r>
            <a:r>
              <a:rPr lang="en-US" sz="700" dirty="0" err="1">
                <a:solidFill>
                  <a:srgbClr val="444444"/>
                </a:solidFill>
              </a:rPr>
              <a:t>Liberam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capacidade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operacional</a:t>
            </a:r>
            <a:r>
              <a:rPr lang="en-US" sz="700" dirty="0">
                <a:solidFill>
                  <a:srgbClr val="444444"/>
                </a:solidFill>
              </a:rPr>
              <a:t> para </a:t>
            </a:r>
            <a:r>
              <a:rPr lang="en-US" sz="700" dirty="0" err="1">
                <a:solidFill>
                  <a:srgbClr val="444444"/>
                </a:solidFill>
              </a:rPr>
              <a:t>focar</a:t>
            </a:r>
            <a:r>
              <a:rPr lang="en-US" sz="700" dirty="0">
                <a:solidFill>
                  <a:srgbClr val="444444"/>
                </a:solidFill>
              </a:rPr>
              <a:t> no </a:t>
            </a:r>
            <a:r>
              <a:rPr lang="en-US" sz="700" dirty="0" err="1">
                <a:solidFill>
                  <a:srgbClr val="444444"/>
                </a:solidFill>
              </a:rPr>
              <a:t>que</a:t>
            </a:r>
            <a:r>
              <a:rPr lang="en-US" sz="700" dirty="0">
                <a:solidFill>
                  <a:srgbClr val="444444"/>
                </a:solidFill>
              </a:rPr>
              <a:t> </a:t>
            </a:r>
            <a:r>
              <a:rPr lang="en-US" sz="700" dirty="0" err="1">
                <a:solidFill>
                  <a:srgbClr val="444444"/>
                </a:solidFill>
              </a:rPr>
              <a:t>importa</a:t>
            </a:r>
            <a:endParaRPr lang="en-US" sz="700" dirty="0"/>
          </a:p>
        </p:txBody>
      </p:sp>
      <p:sp>
        <p:nvSpPr>
          <p:cNvPr id="1064" name="Shape 188">
            <a:extLst>
              <a:ext uri="{FF2B5EF4-FFF2-40B4-BE49-F238E27FC236}">
                <a16:creationId xmlns:a16="http://schemas.microsoft.com/office/drawing/2014/main" id="{802DD5FD-97F5-02E9-9370-DCBAACF76F96}"/>
              </a:ext>
            </a:extLst>
          </p:cNvPr>
          <p:cNvSpPr/>
          <p:nvPr/>
        </p:nvSpPr>
        <p:spPr>
          <a:xfrm>
            <a:off x="6924552" y="7872347"/>
            <a:ext cx="1922526" cy="146304"/>
          </a:xfrm>
          <a:prstGeom prst="rect">
            <a:avLst/>
          </a:prstGeom>
          <a:solidFill>
            <a:srgbClr val="EAF5EE"/>
          </a:solidFill>
          <a:ln w="5080">
            <a:solidFill>
              <a:srgbClr val="1A6B3A"/>
            </a:solidFill>
            <a:prstDash val="solid"/>
          </a:ln>
        </p:spPr>
      </p:sp>
      <p:sp>
        <p:nvSpPr>
          <p:cNvPr id="1065" name="Text 189">
            <a:extLst>
              <a:ext uri="{FF2B5EF4-FFF2-40B4-BE49-F238E27FC236}">
                <a16:creationId xmlns:a16="http://schemas.microsoft.com/office/drawing/2014/main" id="{D79F8861-91CC-2340-7588-1B7EF6113415}"/>
              </a:ext>
            </a:extLst>
          </p:cNvPr>
          <p:cNvSpPr/>
          <p:nvPr/>
        </p:nvSpPr>
        <p:spPr>
          <a:xfrm>
            <a:off x="6924552" y="7872347"/>
            <a:ext cx="19225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 err="1">
                <a:solidFill>
                  <a:srgbClr val="1A6B3A"/>
                </a:solidFill>
              </a:rPr>
              <a:t>Oportunidade</a:t>
            </a:r>
            <a:r>
              <a:rPr lang="en-US" sz="750" b="1" dirty="0">
                <a:solidFill>
                  <a:srgbClr val="1A6B3A"/>
                </a:solidFill>
              </a:rPr>
              <a:t> de </a:t>
            </a:r>
            <a:r>
              <a:rPr lang="en-US" sz="750" b="1" dirty="0" err="1">
                <a:solidFill>
                  <a:srgbClr val="1A6B3A"/>
                </a:solidFill>
              </a:rPr>
              <a:t>descomissionamento</a:t>
            </a:r>
            <a:endParaRPr lang="en-US" sz="750" dirty="0"/>
          </a:p>
        </p:txBody>
      </p:sp>
      <p:sp>
        <p:nvSpPr>
          <p:cNvPr id="256" name="Text 143">
            <a:extLst>
              <a:ext uri="{FF2B5EF4-FFF2-40B4-BE49-F238E27FC236}">
                <a16:creationId xmlns:a16="http://schemas.microsoft.com/office/drawing/2014/main" id="{9A87BC55-7BAE-8A78-C2C3-76CD286FD438}"/>
              </a:ext>
            </a:extLst>
          </p:cNvPr>
          <p:cNvSpPr/>
          <p:nvPr/>
        </p:nvSpPr>
        <p:spPr>
          <a:xfrm>
            <a:off x="4626864" y="5577840"/>
            <a:ext cx="67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</a:rPr>
              <a:t>−10% latência</a:t>
            </a:r>
            <a:endParaRPr lang="en-US" sz="750" dirty="0"/>
          </a:p>
        </p:txBody>
      </p:sp>
      <p:sp>
        <p:nvSpPr>
          <p:cNvPr id="257" name="Shape 144">
            <a:extLst>
              <a:ext uri="{FF2B5EF4-FFF2-40B4-BE49-F238E27FC236}">
                <a16:creationId xmlns:a16="http://schemas.microsoft.com/office/drawing/2014/main" id="{56546B13-2CC3-4B87-3F8B-8415F158F7D5}"/>
              </a:ext>
            </a:extLst>
          </p:cNvPr>
          <p:cNvSpPr/>
          <p:nvPr/>
        </p:nvSpPr>
        <p:spPr>
          <a:xfrm>
            <a:off x="5321808" y="5632704"/>
            <a:ext cx="1389888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7" name="Shape 145">
            <a:extLst>
              <a:ext uri="{FF2B5EF4-FFF2-40B4-BE49-F238E27FC236}">
                <a16:creationId xmlns:a16="http://schemas.microsoft.com/office/drawing/2014/main" id="{230BAA39-C3C0-DA56-A022-FDB4F43FCEF0}"/>
              </a:ext>
            </a:extLst>
          </p:cNvPr>
          <p:cNvSpPr/>
          <p:nvPr/>
        </p:nvSpPr>
        <p:spPr>
          <a:xfrm>
            <a:off x="5321808" y="5632704"/>
            <a:ext cx="694944" cy="109728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278" name="Text 146">
            <a:extLst>
              <a:ext uri="{FF2B5EF4-FFF2-40B4-BE49-F238E27FC236}">
                <a16:creationId xmlns:a16="http://schemas.microsoft.com/office/drawing/2014/main" id="{C8F16624-36EF-9E34-A942-EFC378A82D5B}"/>
              </a:ext>
            </a:extLst>
          </p:cNvPr>
          <p:cNvSpPr/>
          <p:nvPr/>
        </p:nvSpPr>
        <p:spPr>
          <a:xfrm>
            <a:off x="5376672" y="5632704"/>
            <a:ext cx="640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R$ 18.626</a:t>
            </a:r>
            <a:endParaRPr lang="en-US" sz="650" dirty="0"/>
          </a:p>
        </p:txBody>
      </p:sp>
      <p:sp>
        <p:nvSpPr>
          <p:cNvPr id="279" name="Text 147">
            <a:extLst>
              <a:ext uri="{FF2B5EF4-FFF2-40B4-BE49-F238E27FC236}">
                <a16:creationId xmlns:a16="http://schemas.microsoft.com/office/drawing/2014/main" id="{9B75C4F7-1F64-3B9F-E08A-9F4E9970457D}"/>
              </a:ext>
            </a:extLst>
          </p:cNvPr>
          <p:cNvSpPr/>
          <p:nvPr/>
        </p:nvSpPr>
        <p:spPr>
          <a:xfrm>
            <a:off x="4626864" y="5815584"/>
            <a:ext cx="67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</a:rPr>
              <a:t>−20% latência</a:t>
            </a:r>
            <a:endParaRPr lang="en-US" sz="750" dirty="0"/>
          </a:p>
        </p:txBody>
      </p:sp>
      <p:sp>
        <p:nvSpPr>
          <p:cNvPr id="280" name="Shape 148">
            <a:extLst>
              <a:ext uri="{FF2B5EF4-FFF2-40B4-BE49-F238E27FC236}">
                <a16:creationId xmlns:a16="http://schemas.microsoft.com/office/drawing/2014/main" id="{17459102-A86F-127A-F802-3631C43B57AA}"/>
              </a:ext>
            </a:extLst>
          </p:cNvPr>
          <p:cNvSpPr/>
          <p:nvPr/>
        </p:nvSpPr>
        <p:spPr>
          <a:xfrm>
            <a:off x="5321808" y="5870448"/>
            <a:ext cx="1389888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1" name="Shape 149">
            <a:extLst>
              <a:ext uri="{FF2B5EF4-FFF2-40B4-BE49-F238E27FC236}">
                <a16:creationId xmlns:a16="http://schemas.microsoft.com/office/drawing/2014/main" id="{D543C88A-5990-6EFE-DEBD-7AF37126C2BA}"/>
              </a:ext>
            </a:extLst>
          </p:cNvPr>
          <p:cNvSpPr/>
          <p:nvPr/>
        </p:nvSpPr>
        <p:spPr>
          <a:xfrm>
            <a:off x="5321808" y="5870448"/>
            <a:ext cx="1389888" cy="109728"/>
          </a:xfrm>
          <a:prstGeom prst="rect">
            <a:avLst/>
          </a:prstGeom>
          <a:solidFill>
            <a:srgbClr val="003D7D"/>
          </a:solidFill>
          <a:ln w="12700">
            <a:solidFill>
              <a:srgbClr val="003D7D"/>
            </a:solidFill>
            <a:prstDash val="solid"/>
          </a:ln>
        </p:spPr>
      </p:sp>
      <p:sp>
        <p:nvSpPr>
          <p:cNvPr id="282" name="Text 150">
            <a:extLst>
              <a:ext uri="{FF2B5EF4-FFF2-40B4-BE49-F238E27FC236}">
                <a16:creationId xmlns:a16="http://schemas.microsoft.com/office/drawing/2014/main" id="{F1BBFDBB-E2FB-6D76-6DE4-B23873DD7F0D}"/>
              </a:ext>
            </a:extLst>
          </p:cNvPr>
          <p:cNvSpPr/>
          <p:nvPr/>
        </p:nvSpPr>
        <p:spPr>
          <a:xfrm>
            <a:off x="6071616" y="5870448"/>
            <a:ext cx="640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R$ 37.253</a:t>
            </a:r>
            <a:endParaRPr lang="en-US" sz="650" dirty="0"/>
          </a:p>
        </p:txBody>
      </p:sp>
      <p:sp>
        <p:nvSpPr>
          <p:cNvPr id="283" name="Text 151">
            <a:extLst>
              <a:ext uri="{FF2B5EF4-FFF2-40B4-BE49-F238E27FC236}">
                <a16:creationId xmlns:a16="http://schemas.microsoft.com/office/drawing/2014/main" id="{045E6837-326A-F8A1-1456-285992981EA7}"/>
              </a:ext>
            </a:extLst>
          </p:cNvPr>
          <p:cNvSpPr/>
          <p:nvPr/>
        </p:nvSpPr>
        <p:spPr>
          <a:xfrm>
            <a:off x="4626864" y="6053328"/>
            <a:ext cx="67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</a:rPr>
              <a:t>−30% latência</a:t>
            </a:r>
            <a:endParaRPr lang="en-US" sz="750" dirty="0"/>
          </a:p>
        </p:txBody>
      </p:sp>
      <p:sp>
        <p:nvSpPr>
          <p:cNvPr id="284" name="Shape 152">
            <a:extLst>
              <a:ext uri="{FF2B5EF4-FFF2-40B4-BE49-F238E27FC236}">
                <a16:creationId xmlns:a16="http://schemas.microsoft.com/office/drawing/2014/main" id="{B765DB4F-5A70-3D53-E73A-005D3B5FA434}"/>
              </a:ext>
            </a:extLst>
          </p:cNvPr>
          <p:cNvSpPr/>
          <p:nvPr/>
        </p:nvSpPr>
        <p:spPr>
          <a:xfrm>
            <a:off x="5321808" y="6108192"/>
            <a:ext cx="1389888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5" name="Shape 153">
            <a:extLst>
              <a:ext uri="{FF2B5EF4-FFF2-40B4-BE49-F238E27FC236}">
                <a16:creationId xmlns:a16="http://schemas.microsoft.com/office/drawing/2014/main" id="{A68B4B06-9028-5ED8-C4CF-A63B44C68166}"/>
              </a:ext>
            </a:extLst>
          </p:cNvPr>
          <p:cNvSpPr/>
          <p:nvPr/>
        </p:nvSpPr>
        <p:spPr>
          <a:xfrm>
            <a:off x="5321808" y="6108192"/>
            <a:ext cx="1389888" cy="109728"/>
          </a:xfrm>
          <a:prstGeom prst="rect">
            <a:avLst/>
          </a:prstGeom>
          <a:solidFill>
            <a:srgbClr val="002C5A"/>
          </a:solidFill>
          <a:ln w="12700">
            <a:solidFill>
              <a:srgbClr val="002C5A"/>
            </a:solidFill>
            <a:prstDash val="solid"/>
          </a:ln>
        </p:spPr>
      </p:sp>
      <p:sp>
        <p:nvSpPr>
          <p:cNvPr id="286" name="Text 154">
            <a:extLst>
              <a:ext uri="{FF2B5EF4-FFF2-40B4-BE49-F238E27FC236}">
                <a16:creationId xmlns:a16="http://schemas.microsoft.com/office/drawing/2014/main" id="{4956AA4B-8375-5DA7-CAEE-C291E145837C}"/>
              </a:ext>
            </a:extLst>
          </p:cNvPr>
          <p:cNvSpPr/>
          <p:nvPr/>
        </p:nvSpPr>
        <p:spPr>
          <a:xfrm>
            <a:off x="6071616" y="6108192"/>
            <a:ext cx="6400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R$ 37.658</a:t>
            </a:r>
            <a:endParaRPr lang="en-US" sz="650" dirty="0"/>
          </a:p>
        </p:txBody>
      </p:sp>
      <p:sp>
        <p:nvSpPr>
          <p:cNvPr id="287" name="Text 155">
            <a:extLst>
              <a:ext uri="{FF2B5EF4-FFF2-40B4-BE49-F238E27FC236}">
                <a16:creationId xmlns:a16="http://schemas.microsoft.com/office/drawing/2014/main" id="{3EB000CB-D4C8-E996-D3C6-1F43D0D24773}"/>
              </a:ext>
            </a:extLst>
          </p:cNvPr>
          <p:cNvSpPr/>
          <p:nvPr/>
        </p:nvSpPr>
        <p:spPr>
          <a:xfrm>
            <a:off x="6821424" y="5577840"/>
            <a:ext cx="585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</a:rPr>
              <a:t>−10% erros</a:t>
            </a:r>
            <a:endParaRPr lang="en-US" sz="750" dirty="0"/>
          </a:p>
        </p:txBody>
      </p:sp>
      <p:sp>
        <p:nvSpPr>
          <p:cNvPr id="288" name="Shape 156">
            <a:extLst>
              <a:ext uri="{FF2B5EF4-FFF2-40B4-BE49-F238E27FC236}">
                <a16:creationId xmlns:a16="http://schemas.microsoft.com/office/drawing/2014/main" id="{1F3F8609-95B8-1FA4-27D7-EB1A5C108187}"/>
              </a:ext>
            </a:extLst>
          </p:cNvPr>
          <p:cNvSpPr/>
          <p:nvPr/>
        </p:nvSpPr>
        <p:spPr>
          <a:xfrm>
            <a:off x="7424928" y="5632704"/>
            <a:ext cx="1389888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9" name="Shape 157">
            <a:extLst>
              <a:ext uri="{FF2B5EF4-FFF2-40B4-BE49-F238E27FC236}">
                <a16:creationId xmlns:a16="http://schemas.microsoft.com/office/drawing/2014/main" id="{CEEEB724-1FF6-308B-9CB4-6784608E70B9}"/>
              </a:ext>
            </a:extLst>
          </p:cNvPr>
          <p:cNvSpPr/>
          <p:nvPr/>
        </p:nvSpPr>
        <p:spPr>
          <a:xfrm>
            <a:off x="7424928" y="5632704"/>
            <a:ext cx="347472" cy="109728"/>
          </a:xfrm>
          <a:prstGeom prst="rect">
            <a:avLst/>
          </a:prstGeom>
          <a:solidFill>
            <a:srgbClr val="F8A055"/>
          </a:solidFill>
          <a:ln w="12700">
            <a:solidFill>
              <a:srgbClr val="F8A055"/>
            </a:solidFill>
            <a:prstDash val="solid"/>
          </a:ln>
        </p:spPr>
      </p:sp>
      <p:sp>
        <p:nvSpPr>
          <p:cNvPr id="290" name="Text 158">
            <a:extLst>
              <a:ext uri="{FF2B5EF4-FFF2-40B4-BE49-F238E27FC236}">
                <a16:creationId xmlns:a16="http://schemas.microsoft.com/office/drawing/2014/main" id="{945D8172-A683-A2F6-D023-63C9D366FFCC}"/>
              </a:ext>
            </a:extLst>
          </p:cNvPr>
          <p:cNvSpPr/>
          <p:nvPr/>
        </p:nvSpPr>
        <p:spPr>
          <a:xfrm>
            <a:off x="6821424" y="5815584"/>
            <a:ext cx="585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</a:rPr>
              <a:t>−20% erros</a:t>
            </a:r>
            <a:endParaRPr lang="en-US" sz="750" dirty="0"/>
          </a:p>
        </p:txBody>
      </p:sp>
      <p:sp>
        <p:nvSpPr>
          <p:cNvPr id="291" name="Shape 159">
            <a:extLst>
              <a:ext uri="{FF2B5EF4-FFF2-40B4-BE49-F238E27FC236}">
                <a16:creationId xmlns:a16="http://schemas.microsoft.com/office/drawing/2014/main" id="{8F653529-203A-33F4-2EDF-52FBD4EAB692}"/>
              </a:ext>
            </a:extLst>
          </p:cNvPr>
          <p:cNvSpPr/>
          <p:nvPr/>
        </p:nvSpPr>
        <p:spPr>
          <a:xfrm>
            <a:off x="7424928" y="5870448"/>
            <a:ext cx="1389888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2" name="Shape 160">
            <a:extLst>
              <a:ext uri="{FF2B5EF4-FFF2-40B4-BE49-F238E27FC236}">
                <a16:creationId xmlns:a16="http://schemas.microsoft.com/office/drawing/2014/main" id="{5BE6744C-8FBB-3AFE-9BC1-526E3AC7C003}"/>
              </a:ext>
            </a:extLst>
          </p:cNvPr>
          <p:cNvSpPr/>
          <p:nvPr/>
        </p:nvSpPr>
        <p:spPr>
          <a:xfrm>
            <a:off x="7424928" y="5870448"/>
            <a:ext cx="694944" cy="109728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</p:sp>
      <p:sp>
        <p:nvSpPr>
          <p:cNvPr id="293" name="Text 161">
            <a:extLst>
              <a:ext uri="{FF2B5EF4-FFF2-40B4-BE49-F238E27FC236}">
                <a16:creationId xmlns:a16="http://schemas.microsoft.com/office/drawing/2014/main" id="{E2C049A5-1168-DDA6-94D3-AC75AC081990}"/>
              </a:ext>
            </a:extLst>
          </p:cNvPr>
          <p:cNvSpPr/>
          <p:nvPr/>
        </p:nvSpPr>
        <p:spPr>
          <a:xfrm>
            <a:off x="7552944" y="5870448"/>
            <a:ext cx="5669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R$ 112,96</a:t>
            </a:r>
            <a:endParaRPr lang="en-US" sz="650" dirty="0"/>
          </a:p>
        </p:txBody>
      </p:sp>
      <p:sp>
        <p:nvSpPr>
          <p:cNvPr id="294" name="Text 162">
            <a:extLst>
              <a:ext uri="{FF2B5EF4-FFF2-40B4-BE49-F238E27FC236}">
                <a16:creationId xmlns:a16="http://schemas.microsoft.com/office/drawing/2014/main" id="{F511F9F5-A47D-3BF4-63FB-027415270760}"/>
              </a:ext>
            </a:extLst>
          </p:cNvPr>
          <p:cNvSpPr/>
          <p:nvPr/>
        </p:nvSpPr>
        <p:spPr>
          <a:xfrm>
            <a:off x="6821424" y="6053328"/>
            <a:ext cx="585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44444"/>
                </a:solidFill>
              </a:rPr>
              <a:t>−30% erros</a:t>
            </a:r>
            <a:endParaRPr lang="en-US" sz="750" dirty="0"/>
          </a:p>
        </p:txBody>
      </p:sp>
      <p:sp>
        <p:nvSpPr>
          <p:cNvPr id="295" name="Shape 163">
            <a:extLst>
              <a:ext uri="{FF2B5EF4-FFF2-40B4-BE49-F238E27FC236}">
                <a16:creationId xmlns:a16="http://schemas.microsoft.com/office/drawing/2014/main" id="{0CBC3225-9431-3FED-2E33-0D1681558EEB}"/>
              </a:ext>
            </a:extLst>
          </p:cNvPr>
          <p:cNvSpPr/>
          <p:nvPr/>
        </p:nvSpPr>
        <p:spPr>
          <a:xfrm>
            <a:off x="7424928" y="6108192"/>
            <a:ext cx="1389888" cy="1097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6" name="Shape 164">
            <a:extLst>
              <a:ext uri="{FF2B5EF4-FFF2-40B4-BE49-F238E27FC236}">
                <a16:creationId xmlns:a16="http://schemas.microsoft.com/office/drawing/2014/main" id="{C97516A3-691C-51FA-6C48-B1D032D95806}"/>
              </a:ext>
            </a:extLst>
          </p:cNvPr>
          <p:cNvSpPr/>
          <p:nvPr/>
        </p:nvSpPr>
        <p:spPr>
          <a:xfrm>
            <a:off x="7424928" y="6108192"/>
            <a:ext cx="1042416" cy="109728"/>
          </a:xfrm>
          <a:prstGeom prst="rect">
            <a:avLst/>
          </a:prstGeom>
          <a:solidFill>
            <a:srgbClr val="B35200"/>
          </a:solidFill>
          <a:ln w="12700">
            <a:solidFill>
              <a:srgbClr val="B35200"/>
            </a:solidFill>
            <a:prstDash val="solid"/>
          </a:ln>
        </p:spPr>
      </p:sp>
      <p:sp>
        <p:nvSpPr>
          <p:cNvPr id="297" name="Text 165">
            <a:extLst>
              <a:ext uri="{FF2B5EF4-FFF2-40B4-BE49-F238E27FC236}">
                <a16:creationId xmlns:a16="http://schemas.microsoft.com/office/drawing/2014/main" id="{926A3D56-3891-50AE-B8E9-318BD6E4D483}"/>
              </a:ext>
            </a:extLst>
          </p:cNvPr>
          <p:cNvSpPr/>
          <p:nvPr/>
        </p:nvSpPr>
        <p:spPr>
          <a:xfrm>
            <a:off x="7900416" y="6108192"/>
            <a:ext cx="5669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R$ 169,44</a:t>
            </a:r>
            <a:endParaRPr lang="en-US" sz="650" dirty="0"/>
          </a:p>
        </p:txBody>
      </p:sp>
      <p:grpSp>
        <p:nvGrpSpPr>
          <p:cNvPr id="301" name="Agrupar 300">
            <a:extLst>
              <a:ext uri="{FF2B5EF4-FFF2-40B4-BE49-F238E27FC236}">
                <a16:creationId xmlns:a16="http://schemas.microsoft.com/office/drawing/2014/main" id="{B029242B-2F4F-693A-18E9-A9DB61531678}"/>
              </a:ext>
            </a:extLst>
          </p:cNvPr>
          <p:cNvGrpSpPr/>
          <p:nvPr/>
        </p:nvGrpSpPr>
        <p:grpSpPr>
          <a:xfrm>
            <a:off x="6414515" y="11343406"/>
            <a:ext cx="1344169" cy="147600"/>
            <a:chOff x="3227832" y="11513857"/>
            <a:chExt cx="1344169" cy="147600"/>
          </a:xfrm>
        </p:grpSpPr>
        <p:sp>
          <p:nvSpPr>
            <p:cNvPr id="302" name="Shape 230">
              <a:extLst>
                <a:ext uri="{FF2B5EF4-FFF2-40B4-BE49-F238E27FC236}">
                  <a16:creationId xmlns:a16="http://schemas.microsoft.com/office/drawing/2014/main" id="{9ACDBFBE-FEB6-5941-D19E-7F18264F38A8}"/>
                </a:ext>
              </a:extLst>
            </p:cNvPr>
            <p:cNvSpPr/>
            <p:nvPr/>
          </p:nvSpPr>
          <p:spPr>
            <a:xfrm>
              <a:off x="3227833" y="11513857"/>
              <a:ext cx="1344168" cy="147600"/>
            </a:xfrm>
            <a:prstGeom prst="roundRect">
              <a:avLst/>
            </a:prstGeom>
            <a:solidFill>
              <a:srgbClr val="EAF5EE"/>
            </a:solidFill>
            <a:ln w="5080">
              <a:noFill/>
              <a:prstDash val="solid"/>
            </a:ln>
          </p:spPr>
        </p:sp>
        <p:sp>
          <p:nvSpPr>
            <p:cNvPr id="303" name="Text 231">
              <a:extLst>
                <a:ext uri="{FF2B5EF4-FFF2-40B4-BE49-F238E27FC236}">
                  <a16:creationId xmlns:a16="http://schemas.microsoft.com/office/drawing/2014/main" id="{1E6FA18A-4709-D8A9-BC52-9456D022B988}"/>
                </a:ext>
              </a:extLst>
            </p:cNvPr>
            <p:cNvSpPr/>
            <p:nvPr/>
          </p:nvSpPr>
          <p:spPr>
            <a:xfrm>
              <a:off x="3227832" y="11513857"/>
              <a:ext cx="1344168" cy="144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750" b="1" dirty="0">
                  <a:solidFill>
                    <a:srgbClr val="1A6B3A"/>
                  </a:solidFill>
                </a:rPr>
                <a:t>KPI: </a:t>
              </a:r>
              <a:r>
                <a:rPr lang="en-US" sz="750" b="1" dirty="0" err="1">
                  <a:solidFill>
                    <a:srgbClr val="1A6B3A"/>
                  </a:solidFill>
                </a:rPr>
                <a:t>latência</a:t>
              </a:r>
              <a:r>
                <a:rPr lang="en-US" sz="750" b="1" dirty="0">
                  <a:solidFill>
                    <a:srgbClr val="1A6B3A"/>
                  </a:solidFill>
                </a:rPr>
                <a:t> P75 &lt; 200 </a:t>
              </a:r>
              <a:r>
                <a:rPr lang="en-US" sz="750" b="1" dirty="0" err="1">
                  <a:solidFill>
                    <a:srgbClr val="1A6B3A"/>
                  </a:solidFill>
                </a:rPr>
                <a:t>ms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645</TotalTime>
  <Words>1120</Words>
  <Application>Microsoft Macintosh PowerPoint</Application>
  <PresentationFormat>Personalizar</PresentationFormat>
  <Paragraphs>184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Health Intelligence Platform — One-Pager Itaú</dc:title>
  <dc:subject>PptxGenJS Presentation</dc:subject>
  <dc:creator>PptxGenJS</dc:creator>
  <cp:lastModifiedBy>Gabriel F Silva</cp:lastModifiedBy>
  <cp:revision>6</cp:revision>
  <cp:lastPrinted>2026-04-26T14:59:37Z</cp:lastPrinted>
  <dcterms:created xsi:type="dcterms:W3CDTF">2026-04-26T13:01:54Z</dcterms:created>
  <dcterms:modified xsi:type="dcterms:W3CDTF">2026-04-29T03:16:36Z</dcterms:modified>
</cp:coreProperties>
</file>